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0"/>
  </p:notesMasterIdLst>
  <p:sldIdLst>
    <p:sldId id="287" r:id="rId2"/>
    <p:sldId id="256" r:id="rId3"/>
    <p:sldId id="286" r:id="rId4"/>
    <p:sldId id="257" r:id="rId5"/>
    <p:sldId id="259" r:id="rId6"/>
    <p:sldId id="262" r:id="rId7"/>
    <p:sldId id="263" r:id="rId8"/>
    <p:sldId id="285" r:id="rId9"/>
    <p:sldId id="278" r:id="rId10"/>
    <p:sldId id="271" r:id="rId11"/>
    <p:sldId id="264" r:id="rId12"/>
    <p:sldId id="265" r:id="rId13"/>
    <p:sldId id="266" r:id="rId14"/>
    <p:sldId id="267" r:id="rId15"/>
    <p:sldId id="274" r:id="rId16"/>
    <p:sldId id="288" r:id="rId17"/>
    <p:sldId id="282" r:id="rId18"/>
    <p:sldId id="275" r:id="rId19"/>
    <p:sldId id="276" r:id="rId20"/>
    <p:sldId id="280" r:id="rId21"/>
    <p:sldId id="281" r:id="rId22"/>
    <p:sldId id="272" r:id="rId23"/>
    <p:sldId id="277" r:id="rId24"/>
    <p:sldId id="273" r:id="rId25"/>
    <p:sldId id="283" r:id="rId26"/>
    <p:sldId id="284" r:id="rId27"/>
    <p:sldId id="270" r:id="rId28"/>
    <p:sldId id="279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מקטע ברירת מחדל" id="{A4105EA1-08EB-4877-8E77-A338308592D2}">
          <p14:sldIdLst>
            <p14:sldId id="287"/>
            <p14:sldId id="256"/>
            <p14:sldId id="286"/>
            <p14:sldId id="257"/>
            <p14:sldId id="259"/>
            <p14:sldId id="262"/>
            <p14:sldId id="263"/>
            <p14:sldId id="285"/>
            <p14:sldId id="278"/>
            <p14:sldId id="271"/>
            <p14:sldId id="264"/>
            <p14:sldId id="265"/>
            <p14:sldId id="266"/>
            <p14:sldId id="267"/>
            <p14:sldId id="274"/>
            <p14:sldId id="288"/>
            <p14:sldId id="282"/>
            <p14:sldId id="275"/>
            <p14:sldId id="276"/>
            <p14:sldId id="280"/>
            <p14:sldId id="281"/>
            <p14:sldId id="272"/>
            <p14:sldId id="277"/>
            <p14:sldId id="273"/>
            <p14:sldId id="283"/>
            <p14:sldId id="284"/>
            <p14:sldId id="270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886F"/>
    <a:srgbClr val="8966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53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0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14DCF0-EF24-4262-B271-B73E35B852C5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EBA6D9E-8308-4AC6-B7EC-762199B382CC}">
      <dgm:prSet/>
      <dgm:spPr/>
      <dgm:t>
        <a:bodyPr/>
        <a:lstStyle/>
        <a:p>
          <a:pPr>
            <a:defRPr cap="all"/>
          </a:pPr>
          <a:r>
            <a:rPr lang="he-IL"/>
            <a:t>מנהל חשבונות: גישה לטבלת העובדים והמשכורות ועדכונם.</a:t>
          </a:r>
          <a:endParaRPr lang="en-US"/>
        </a:p>
      </dgm:t>
    </dgm:pt>
    <dgm:pt modelId="{430FBEE8-52AB-4808-828B-E7DF86AC6FE5}" type="parTrans" cxnId="{D0DF822B-551C-4E28-9EB5-AD0C98A33F8A}">
      <dgm:prSet/>
      <dgm:spPr/>
      <dgm:t>
        <a:bodyPr/>
        <a:lstStyle/>
        <a:p>
          <a:endParaRPr lang="en-US"/>
        </a:p>
      </dgm:t>
    </dgm:pt>
    <dgm:pt modelId="{CEE60EBA-163B-4FAA-A9E4-22B44A4C4D7F}" type="sibTrans" cxnId="{D0DF822B-551C-4E28-9EB5-AD0C98A33F8A}">
      <dgm:prSet/>
      <dgm:spPr/>
      <dgm:t>
        <a:bodyPr/>
        <a:lstStyle/>
        <a:p>
          <a:endParaRPr lang="en-US"/>
        </a:p>
      </dgm:t>
    </dgm:pt>
    <dgm:pt modelId="{ED4E21D3-1AF8-4D7A-9F33-6E34BB13D186}">
      <dgm:prSet/>
      <dgm:spPr/>
      <dgm:t>
        <a:bodyPr/>
        <a:lstStyle/>
        <a:p>
          <a:pPr>
            <a:defRPr cap="all"/>
          </a:pPr>
          <a:r>
            <a:rPr lang="he-IL" dirty="0"/>
            <a:t>לקוחות: גישה לטבלת המתקנים וטבלת הפעילויות.</a:t>
          </a:r>
          <a:endParaRPr lang="en-US" dirty="0"/>
        </a:p>
      </dgm:t>
    </dgm:pt>
    <dgm:pt modelId="{867A8396-A1E6-4221-9676-9C1371A6DE03}" type="parTrans" cxnId="{185A60C8-D47D-4BFD-A542-3ACDD7BEE2F4}">
      <dgm:prSet/>
      <dgm:spPr/>
      <dgm:t>
        <a:bodyPr/>
        <a:lstStyle/>
        <a:p>
          <a:endParaRPr lang="en-US"/>
        </a:p>
      </dgm:t>
    </dgm:pt>
    <dgm:pt modelId="{40731AA6-F4D3-49A1-9DE3-210B6D7154B7}" type="sibTrans" cxnId="{185A60C8-D47D-4BFD-A542-3ACDD7BEE2F4}">
      <dgm:prSet/>
      <dgm:spPr/>
      <dgm:t>
        <a:bodyPr/>
        <a:lstStyle/>
        <a:p>
          <a:endParaRPr lang="en-US"/>
        </a:p>
      </dgm:t>
    </dgm:pt>
    <dgm:pt modelId="{A1D0A216-761D-4A0C-AA6C-7DB6AC14E2FB}">
      <dgm:prSet/>
      <dgm:spPr/>
      <dgm:t>
        <a:bodyPr/>
        <a:lstStyle/>
        <a:p>
          <a:pPr>
            <a:defRPr cap="all"/>
          </a:pPr>
          <a:r>
            <a:rPr lang="he-IL" dirty="0"/>
            <a:t>מנהל הסניף: גישה לכל המידע.</a:t>
          </a:r>
          <a:endParaRPr lang="en-US" dirty="0"/>
        </a:p>
      </dgm:t>
    </dgm:pt>
    <dgm:pt modelId="{459B7E6F-6768-45B9-8CAE-5244714215E3}" type="parTrans" cxnId="{37A4CAC5-2B1D-44D4-A8E4-C10251437117}">
      <dgm:prSet/>
      <dgm:spPr/>
      <dgm:t>
        <a:bodyPr/>
        <a:lstStyle/>
        <a:p>
          <a:endParaRPr lang="en-US"/>
        </a:p>
      </dgm:t>
    </dgm:pt>
    <dgm:pt modelId="{F56A5B45-1C20-4155-AE0A-4F939FACEB3E}" type="sibTrans" cxnId="{37A4CAC5-2B1D-44D4-A8E4-C10251437117}">
      <dgm:prSet/>
      <dgm:spPr/>
      <dgm:t>
        <a:bodyPr/>
        <a:lstStyle/>
        <a:p>
          <a:endParaRPr lang="en-US"/>
        </a:p>
      </dgm:t>
    </dgm:pt>
    <dgm:pt modelId="{5152A8F2-4BA8-46E8-AF95-91463ED5B124}">
      <dgm:prSet/>
      <dgm:spPr/>
      <dgm:t>
        <a:bodyPr/>
        <a:lstStyle/>
        <a:p>
          <a:pPr>
            <a:defRPr cap="all"/>
          </a:pPr>
          <a:r>
            <a:rPr lang="he-IL" dirty="0"/>
            <a:t>מזכיר</a:t>
          </a:r>
          <a:endParaRPr lang="en-US" dirty="0"/>
        </a:p>
      </dgm:t>
    </dgm:pt>
    <dgm:pt modelId="{884076D7-2B96-4E4F-A692-33DFDEE459CD}" type="parTrans" cxnId="{27B8EE41-F057-49F2-82F2-AC3AD17B6E8B}">
      <dgm:prSet/>
      <dgm:spPr/>
      <dgm:t>
        <a:bodyPr/>
        <a:lstStyle/>
        <a:p>
          <a:endParaRPr lang="en-US"/>
        </a:p>
      </dgm:t>
    </dgm:pt>
    <dgm:pt modelId="{CDB4EBF6-4EF5-4CF0-914A-97C5CBF7D28D}" type="sibTrans" cxnId="{27B8EE41-F057-49F2-82F2-AC3AD17B6E8B}">
      <dgm:prSet/>
      <dgm:spPr/>
      <dgm:t>
        <a:bodyPr/>
        <a:lstStyle/>
        <a:p>
          <a:endParaRPr lang="en-US"/>
        </a:p>
      </dgm:t>
    </dgm:pt>
    <dgm:pt modelId="{D80CFDFD-CFBC-4B50-BECA-52803787AF42}" type="pres">
      <dgm:prSet presAssocID="{9114DCF0-EF24-4262-B271-B73E35B852C5}" presName="root" presStyleCnt="0">
        <dgm:presLayoutVars>
          <dgm:dir/>
          <dgm:resizeHandles val="exact"/>
        </dgm:presLayoutVars>
      </dgm:prSet>
      <dgm:spPr/>
    </dgm:pt>
    <dgm:pt modelId="{85698C33-960D-4B74-9E19-F50B6303124F}" type="pres">
      <dgm:prSet presAssocID="{2EBA6D9E-8308-4AC6-B7EC-762199B382CC}" presName="compNode" presStyleCnt="0"/>
      <dgm:spPr/>
    </dgm:pt>
    <dgm:pt modelId="{3789230A-A68F-40A7-A71A-016FB9C0D746}" type="pres">
      <dgm:prSet presAssocID="{2EBA6D9E-8308-4AC6-B7EC-762199B382CC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74C8E79-E244-4E34-A486-3409671084D5}" type="pres">
      <dgm:prSet presAssocID="{2EBA6D9E-8308-4AC6-B7EC-762199B382C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משתמש"/>
        </a:ext>
      </dgm:extLst>
    </dgm:pt>
    <dgm:pt modelId="{C3373F77-0620-43FF-9F3F-D6BD6DF309E9}" type="pres">
      <dgm:prSet presAssocID="{2EBA6D9E-8308-4AC6-B7EC-762199B382CC}" presName="spaceRect" presStyleCnt="0"/>
      <dgm:spPr/>
    </dgm:pt>
    <dgm:pt modelId="{26AE1038-4B7F-4BCB-8FC8-179C01A26134}" type="pres">
      <dgm:prSet presAssocID="{2EBA6D9E-8308-4AC6-B7EC-762199B382CC}" presName="textRect" presStyleLbl="revTx" presStyleIdx="0" presStyleCnt="4">
        <dgm:presLayoutVars>
          <dgm:chMax val="1"/>
          <dgm:chPref val="1"/>
        </dgm:presLayoutVars>
      </dgm:prSet>
      <dgm:spPr/>
    </dgm:pt>
    <dgm:pt modelId="{EE2D9B0B-4CE7-4D8F-9755-286BF4C52E9E}" type="pres">
      <dgm:prSet presAssocID="{CEE60EBA-163B-4FAA-A9E4-22B44A4C4D7F}" presName="sibTrans" presStyleCnt="0"/>
      <dgm:spPr/>
    </dgm:pt>
    <dgm:pt modelId="{BE0A178F-BE87-4EE9-A7C8-7C72F5C382E5}" type="pres">
      <dgm:prSet presAssocID="{ED4E21D3-1AF8-4D7A-9F33-6E34BB13D186}" presName="compNode" presStyleCnt="0"/>
      <dgm:spPr/>
    </dgm:pt>
    <dgm:pt modelId="{E9E2E8EF-961A-4702-8198-E2AAF0E9C383}" type="pres">
      <dgm:prSet presAssocID="{ED4E21D3-1AF8-4D7A-9F33-6E34BB13D186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6DAE9FB-8024-4297-9D31-0EBBD3F7FA2C}" type="pres">
      <dgm:prSet presAssocID="{ED4E21D3-1AF8-4D7A-9F33-6E34BB13D18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4D0191ED-11E3-4829-9CD3-09C723BF1B77}" type="pres">
      <dgm:prSet presAssocID="{ED4E21D3-1AF8-4D7A-9F33-6E34BB13D186}" presName="spaceRect" presStyleCnt="0"/>
      <dgm:spPr/>
    </dgm:pt>
    <dgm:pt modelId="{2F468E65-32B9-4289-8030-4C694224819C}" type="pres">
      <dgm:prSet presAssocID="{ED4E21D3-1AF8-4D7A-9F33-6E34BB13D186}" presName="textRect" presStyleLbl="revTx" presStyleIdx="1" presStyleCnt="4">
        <dgm:presLayoutVars>
          <dgm:chMax val="1"/>
          <dgm:chPref val="1"/>
        </dgm:presLayoutVars>
      </dgm:prSet>
      <dgm:spPr/>
    </dgm:pt>
    <dgm:pt modelId="{039887D6-BB14-4E40-9013-FEA12A0E5914}" type="pres">
      <dgm:prSet presAssocID="{40731AA6-F4D3-49A1-9DE3-210B6D7154B7}" presName="sibTrans" presStyleCnt="0"/>
      <dgm:spPr/>
    </dgm:pt>
    <dgm:pt modelId="{578B05B3-C66D-42E5-B258-D6DAD7945EE7}" type="pres">
      <dgm:prSet presAssocID="{A1D0A216-761D-4A0C-AA6C-7DB6AC14E2FB}" presName="compNode" presStyleCnt="0"/>
      <dgm:spPr/>
    </dgm:pt>
    <dgm:pt modelId="{59717421-0A32-4279-88B4-4E1FDF066667}" type="pres">
      <dgm:prSet presAssocID="{A1D0A216-761D-4A0C-AA6C-7DB6AC14E2FB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0A8F1EE-6250-44B4-8979-18995A02119C}" type="pres">
      <dgm:prSet presAssocID="{A1D0A216-761D-4A0C-AA6C-7DB6AC14E2F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BAB9F443-1174-4566-B769-1C36727BA064}" type="pres">
      <dgm:prSet presAssocID="{A1D0A216-761D-4A0C-AA6C-7DB6AC14E2FB}" presName="spaceRect" presStyleCnt="0"/>
      <dgm:spPr/>
    </dgm:pt>
    <dgm:pt modelId="{AB8D4F44-3E62-4FF1-9BCF-C404FDF88159}" type="pres">
      <dgm:prSet presAssocID="{A1D0A216-761D-4A0C-AA6C-7DB6AC14E2FB}" presName="textRect" presStyleLbl="revTx" presStyleIdx="2" presStyleCnt="4">
        <dgm:presLayoutVars>
          <dgm:chMax val="1"/>
          <dgm:chPref val="1"/>
        </dgm:presLayoutVars>
      </dgm:prSet>
      <dgm:spPr/>
    </dgm:pt>
    <dgm:pt modelId="{1252C849-5FFD-4FCB-9FD8-76DE0C8FF1FD}" type="pres">
      <dgm:prSet presAssocID="{F56A5B45-1C20-4155-AE0A-4F939FACEB3E}" presName="sibTrans" presStyleCnt="0"/>
      <dgm:spPr/>
    </dgm:pt>
    <dgm:pt modelId="{B33AF4C2-C099-47FE-ABF2-6B7A0D1E7F10}" type="pres">
      <dgm:prSet presAssocID="{5152A8F2-4BA8-46E8-AF95-91463ED5B124}" presName="compNode" presStyleCnt="0"/>
      <dgm:spPr/>
    </dgm:pt>
    <dgm:pt modelId="{E7F5453D-37C3-41DC-A6EB-A3D137D9FBF6}" type="pres">
      <dgm:prSet presAssocID="{5152A8F2-4BA8-46E8-AF95-91463ED5B124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3F35884-552F-4566-9171-00C56104902A}" type="pres">
      <dgm:prSet presAssocID="{5152A8F2-4BA8-46E8-AF95-91463ED5B12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DFB61A72-0B41-4AA8-9971-50A5490EBDCA}" type="pres">
      <dgm:prSet presAssocID="{5152A8F2-4BA8-46E8-AF95-91463ED5B124}" presName="spaceRect" presStyleCnt="0"/>
      <dgm:spPr/>
    </dgm:pt>
    <dgm:pt modelId="{383AC4B1-A673-4E63-9558-6375B1FBCCFD}" type="pres">
      <dgm:prSet presAssocID="{5152A8F2-4BA8-46E8-AF95-91463ED5B12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FE0290E-0D10-48A4-B41A-F4A725F955BF}" type="presOf" srcId="{A1D0A216-761D-4A0C-AA6C-7DB6AC14E2FB}" destId="{AB8D4F44-3E62-4FF1-9BCF-C404FDF88159}" srcOrd="0" destOrd="0" presId="urn:microsoft.com/office/officeart/2018/5/layout/IconLeafLabelList"/>
    <dgm:cxn modelId="{D0DF822B-551C-4E28-9EB5-AD0C98A33F8A}" srcId="{9114DCF0-EF24-4262-B271-B73E35B852C5}" destId="{2EBA6D9E-8308-4AC6-B7EC-762199B382CC}" srcOrd="0" destOrd="0" parTransId="{430FBEE8-52AB-4808-828B-E7DF86AC6FE5}" sibTransId="{CEE60EBA-163B-4FAA-A9E4-22B44A4C4D7F}"/>
    <dgm:cxn modelId="{BF83FC30-70C7-4271-88C8-C794E4FAB75E}" type="presOf" srcId="{9114DCF0-EF24-4262-B271-B73E35B852C5}" destId="{D80CFDFD-CFBC-4B50-BECA-52803787AF42}" srcOrd="0" destOrd="0" presId="urn:microsoft.com/office/officeart/2018/5/layout/IconLeafLabelList"/>
    <dgm:cxn modelId="{27B8EE41-F057-49F2-82F2-AC3AD17B6E8B}" srcId="{9114DCF0-EF24-4262-B271-B73E35B852C5}" destId="{5152A8F2-4BA8-46E8-AF95-91463ED5B124}" srcOrd="3" destOrd="0" parTransId="{884076D7-2B96-4E4F-A692-33DFDEE459CD}" sibTransId="{CDB4EBF6-4EF5-4CF0-914A-97C5CBF7D28D}"/>
    <dgm:cxn modelId="{DEDE0343-B270-4845-928E-3B7E0B9886C6}" type="presOf" srcId="{ED4E21D3-1AF8-4D7A-9F33-6E34BB13D186}" destId="{2F468E65-32B9-4289-8030-4C694224819C}" srcOrd="0" destOrd="0" presId="urn:microsoft.com/office/officeart/2018/5/layout/IconLeafLabelList"/>
    <dgm:cxn modelId="{4422064C-FD89-4FB1-ABB1-3F7B0F6B38A6}" type="presOf" srcId="{5152A8F2-4BA8-46E8-AF95-91463ED5B124}" destId="{383AC4B1-A673-4E63-9558-6375B1FBCCFD}" srcOrd="0" destOrd="0" presId="urn:microsoft.com/office/officeart/2018/5/layout/IconLeafLabelList"/>
    <dgm:cxn modelId="{622B4479-9573-41A6-8FD1-ACA9896B1C32}" type="presOf" srcId="{2EBA6D9E-8308-4AC6-B7EC-762199B382CC}" destId="{26AE1038-4B7F-4BCB-8FC8-179C01A26134}" srcOrd="0" destOrd="0" presId="urn:microsoft.com/office/officeart/2018/5/layout/IconLeafLabelList"/>
    <dgm:cxn modelId="{37A4CAC5-2B1D-44D4-A8E4-C10251437117}" srcId="{9114DCF0-EF24-4262-B271-B73E35B852C5}" destId="{A1D0A216-761D-4A0C-AA6C-7DB6AC14E2FB}" srcOrd="2" destOrd="0" parTransId="{459B7E6F-6768-45B9-8CAE-5244714215E3}" sibTransId="{F56A5B45-1C20-4155-AE0A-4F939FACEB3E}"/>
    <dgm:cxn modelId="{185A60C8-D47D-4BFD-A542-3ACDD7BEE2F4}" srcId="{9114DCF0-EF24-4262-B271-B73E35B852C5}" destId="{ED4E21D3-1AF8-4D7A-9F33-6E34BB13D186}" srcOrd="1" destOrd="0" parTransId="{867A8396-A1E6-4221-9676-9C1371A6DE03}" sibTransId="{40731AA6-F4D3-49A1-9DE3-210B6D7154B7}"/>
    <dgm:cxn modelId="{55BADEB8-E462-44A8-8DFB-B0DF8C4A5E2C}" type="presParOf" srcId="{D80CFDFD-CFBC-4B50-BECA-52803787AF42}" destId="{85698C33-960D-4B74-9E19-F50B6303124F}" srcOrd="0" destOrd="0" presId="urn:microsoft.com/office/officeart/2018/5/layout/IconLeafLabelList"/>
    <dgm:cxn modelId="{9831CE38-CE0B-4F75-9360-190D41EAAE7E}" type="presParOf" srcId="{85698C33-960D-4B74-9E19-F50B6303124F}" destId="{3789230A-A68F-40A7-A71A-016FB9C0D746}" srcOrd="0" destOrd="0" presId="urn:microsoft.com/office/officeart/2018/5/layout/IconLeafLabelList"/>
    <dgm:cxn modelId="{4D9A6168-2D73-4BFC-9F45-2C518CC1790D}" type="presParOf" srcId="{85698C33-960D-4B74-9E19-F50B6303124F}" destId="{E74C8E79-E244-4E34-A486-3409671084D5}" srcOrd="1" destOrd="0" presId="urn:microsoft.com/office/officeart/2018/5/layout/IconLeafLabelList"/>
    <dgm:cxn modelId="{C11DF8BB-DE4D-46F2-B6AE-FAFD9E13C879}" type="presParOf" srcId="{85698C33-960D-4B74-9E19-F50B6303124F}" destId="{C3373F77-0620-43FF-9F3F-D6BD6DF309E9}" srcOrd="2" destOrd="0" presId="urn:microsoft.com/office/officeart/2018/5/layout/IconLeafLabelList"/>
    <dgm:cxn modelId="{98900284-3B2E-4801-A209-5449025131DD}" type="presParOf" srcId="{85698C33-960D-4B74-9E19-F50B6303124F}" destId="{26AE1038-4B7F-4BCB-8FC8-179C01A26134}" srcOrd="3" destOrd="0" presId="urn:microsoft.com/office/officeart/2018/5/layout/IconLeafLabelList"/>
    <dgm:cxn modelId="{D73ECD1E-36E4-4772-819C-0E70652FB6C2}" type="presParOf" srcId="{D80CFDFD-CFBC-4B50-BECA-52803787AF42}" destId="{EE2D9B0B-4CE7-4D8F-9755-286BF4C52E9E}" srcOrd="1" destOrd="0" presId="urn:microsoft.com/office/officeart/2018/5/layout/IconLeafLabelList"/>
    <dgm:cxn modelId="{4C107872-AF0C-44C1-80B2-E3FAA4149E51}" type="presParOf" srcId="{D80CFDFD-CFBC-4B50-BECA-52803787AF42}" destId="{BE0A178F-BE87-4EE9-A7C8-7C72F5C382E5}" srcOrd="2" destOrd="0" presId="urn:microsoft.com/office/officeart/2018/5/layout/IconLeafLabelList"/>
    <dgm:cxn modelId="{744C4AFE-5EC2-426D-8422-EFAEFA7AB077}" type="presParOf" srcId="{BE0A178F-BE87-4EE9-A7C8-7C72F5C382E5}" destId="{E9E2E8EF-961A-4702-8198-E2AAF0E9C383}" srcOrd="0" destOrd="0" presId="urn:microsoft.com/office/officeart/2018/5/layout/IconLeafLabelList"/>
    <dgm:cxn modelId="{6EBCD4BB-629C-4FD5-8DE1-8685B0931E3B}" type="presParOf" srcId="{BE0A178F-BE87-4EE9-A7C8-7C72F5C382E5}" destId="{36DAE9FB-8024-4297-9D31-0EBBD3F7FA2C}" srcOrd="1" destOrd="0" presId="urn:microsoft.com/office/officeart/2018/5/layout/IconLeafLabelList"/>
    <dgm:cxn modelId="{DD1B53B9-06EE-403D-9CEF-E87068C9A864}" type="presParOf" srcId="{BE0A178F-BE87-4EE9-A7C8-7C72F5C382E5}" destId="{4D0191ED-11E3-4829-9CD3-09C723BF1B77}" srcOrd="2" destOrd="0" presId="urn:microsoft.com/office/officeart/2018/5/layout/IconLeafLabelList"/>
    <dgm:cxn modelId="{AB1DC0E2-4AF4-425C-9811-6248EE8B5B2C}" type="presParOf" srcId="{BE0A178F-BE87-4EE9-A7C8-7C72F5C382E5}" destId="{2F468E65-32B9-4289-8030-4C694224819C}" srcOrd="3" destOrd="0" presId="urn:microsoft.com/office/officeart/2018/5/layout/IconLeafLabelList"/>
    <dgm:cxn modelId="{20C5E5CF-D74F-490C-AC35-60E4D0414D72}" type="presParOf" srcId="{D80CFDFD-CFBC-4B50-BECA-52803787AF42}" destId="{039887D6-BB14-4E40-9013-FEA12A0E5914}" srcOrd="3" destOrd="0" presId="urn:microsoft.com/office/officeart/2018/5/layout/IconLeafLabelList"/>
    <dgm:cxn modelId="{A6B912D4-78F3-4FF0-8ED3-587BE046B6D5}" type="presParOf" srcId="{D80CFDFD-CFBC-4B50-BECA-52803787AF42}" destId="{578B05B3-C66D-42E5-B258-D6DAD7945EE7}" srcOrd="4" destOrd="0" presId="urn:microsoft.com/office/officeart/2018/5/layout/IconLeafLabelList"/>
    <dgm:cxn modelId="{8A6F9E22-979A-4E88-9327-CAC0901E5913}" type="presParOf" srcId="{578B05B3-C66D-42E5-B258-D6DAD7945EE7}" destId="{59717421-0A32-4279-88B4-4E1FDF066667}" srcOrd="0" destOrd="0" presId="urn:microsoft.com/office/officeart/2018/5/layout/IconLeafLabelList"/>
    <dgm:cxn modelId="{A2469733-B88F-4FD7-B0B8-C27AA2AD30A7}" type="presParOf" srcId="{578B05B3-C66D-42E5-B258-D6DAD7945EE7}" destId="{30A8F1EE-6250-44B4-8979-18995A02119C}" srcOrd="1" destOrd="0" presId="urn:microsoft.com/office/officeart/2018/5/layout/IconLeafLabelList"/>
    <dgm:cxn modelId="{2240A9F3-EFFE-4785-8A78-A4B22A69B5D5}" type="presParOf" srcId="{578B05B3-C66D-42E5-B258-D6DAD7945EE7}" destId="{BAB9F443-1174-4566-B769-1C36727BA064}" srcOrd="2" destOrd="0" presId="urn:microsoft.com/office/officeart/2018/5/layout/IconLeafLabelList"/>
    <dgm:cxn modelId="{390E95ED-C2DC-4E9A-AA5C-8ECAE04F01CF}" type="presParOf" srcId="{578B05B3-C66D-42E5-B258-D6DAD7945EE7}" destId="{AB8D4F44-3E62-4FF1-9BCF-C404FDF88159}" srcOrd="3" destOrd="0" presId="urn:microsoft.com/office/officeart/2018/5/layout/IconLeafLabelList"/>
    <dgm:cxn modelId="{D7B9D62B-39CF-49FA-BBD0-F155BE80CEBD}" type="presParOf" srcId="{D80CFDFD-CFBC-4B50-BECA-52803787AF42}" destId="{1252C849-5FFD-4FCB-9FD8-76DE0C8FF1FD}" srcOrd="5" destOrd="0" presId="urn:microsoft.com/office/officeart/2018/5/layout/IconLeafLabelList"/>
    <dgm:cxn modelId="{27345CB9-E3DB-44CA-9707-5727BEE42327}" type="presParOf" srcId="{D80CFDFD-CFBC-4B50-BECA-52803787AF42}" destId="{B33AF4C2-C099-47FE-ABF2-6B7A0D1E7F10}" srcOrd="6" destOrd="0" presId="urn:microsoft.com/office/officeart/2018/5/layout/IconLeafLabelList"/>
    <dgm:cxn modelId="{5ACEE77A-EDFD-4FCE-95DE-6E8FCF4C0A28}" type="presParOf" srcId="{B33AF4C2-C099-47FE-ABF2-6B7A0D1E7F10}" destId="{E7F5453D-37C3-41DC-A6EB-A3D137D9FBF6}" srcOrd="0" destOrd="0" presId="urn:microsoft.com/office/officeart/2018/5/layout/IconLeafLabelList"/>
    <dgm:cxn modelId="{535B253D-39ED-4556-BE53-1DE309ADECA9}" type="presParOf" srcId="{B33AF4C2-C099-47FE-ABF2-6B7A0D1E7F10}" destId="{93F35884-552F-4566-9171-00C56104902A}" srcOrd="1" destOrd="0" presId="urn:microsoft.com/office/officeart/2018/5/layout/IconLeafLabelList"/>
    <dgm:cxn modelId="{D1FB8C52-AB9C-4098-B720-0C67E242411A}" type="presParOf" srcId="{B33AF4C2-C099-47FE-ABF2-6B7A0D1E7F10}" destId="{DFB61A72-0B41-4AA8-9971-50A5490EBDCA}" srcOrd="2" destOrd="0" presId="urn:microsoft.com/office/officeart/2018/5/layout/IconLeafLabelList"/>
    <dgm:cxn modelId="{B9F5ECF6-8FF3-47FB-BD02-01723A3A7835}" type="presParOf" srcId="{B33AF4C2-C099-47FE-ABF2-6B7A0D1E7F10}" destId="{383AC4B1-A673-4E63-9558-6375B1FBCCF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89230A-A68F-40A7-A71A-016FB9C0D746}">
      <dsp:nvSpPr>
        <dsp:cNvPr id="0" name=""/>
        <dsp:cNvSpPr/>
      </dsp:nvSpPr>
      <dsp:spPr>
        <a:xfrm>
          <a:off x="1120765" y="2916"/>
          <a:ext cx="1254824" cy="1254824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4C8E79-E244-4E34-A486-3409671084D5}">
      <dsp:nvSpPr>
        <dsp:cNvPr id="0" name=""/>
        <dsp:cNvSpPr/>
      </dsp:nvSpPr>
      <dsp:spPr>
        <a:xfrm>
          <a:off x="1388187" y="270338"/>
          <a:ext cx="719981" cy="7199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AE1038-4B7F-4BCB-8FC8-179C01A26134}">
      <dsp:nvSpPr>
        <dsp:cNvPr id="0" name=""/>
        <dsp:cNvSpPr/>
      </dsp:nvSpPr>
      <dsp:spPr>
        <a:xfrm>
          <a:off x="719633" y="1648588"/>
          <a:ext cx="20570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he-IL" sz="1800" kern="1200"/>
            <a:t>מנהל חשבונות: גישה לטבלת העובדים והמשכורות ועדכונם.</a:t>
          </a:r>
          <a:endParaRPr lang="en-US" sz="1800" kern="1200"/>
        </a:p>
      </dsp:txBody>
      <dsp:txXfrm>
        <a:off x="719633" y="1648588"/>
        <a:ext cx="2057089" cy="720000"/>
      </dsp:txXfrm>
    </dsp:sp>
    <dsp:sp modelId="{E9E2E8EF-961A-4702-8198-E2AAF0E9C383}">
      <dsp:nvSpPr>
        <dsp:cNvPr id="0" name=""/>
        <dsp:cNvSpPr/>
      </dsp:nvSpPr>
      <dsp:spPr>
        <a:xfrm>
          <a:off x="3537846" y="2916"/>
          <a:ext cx="1254824" cy="1254824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DAE9FB-8024-4297-9D31-0EBBD3F7FA2C}">
      <dsp:nvSpPr>
        <dsp:cNvPr id="0" name=""/>
        <dsp:cNvSpPr/>
      </dsp:nvSpPr>
      <dsp:spPr>
        <a:xfrm>
          <a:off x="3805268" y="270338"/>
          <a:ext cx="719981" cy="7199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468E65-32B9-4289-8030-4C694224819C}">
      <dsp:nvSpPr>
        <dsp:cNvPr id="0" name=""/>
        <dsp:cNvSpPr/>
      </dsp:nvSpPr>
      <dsp:spPr>
        <a:xfrm>
          <a:off x="3136713" y="1648588"/>
          <a:ext cx="20570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he-IL" sz="1800" kern="1200" dirty="0"/>
            <a:t>לקוחות: גישה לטבלת המתקנים וטבלת הפעילויות.</a:t>
          </a:r>
          <a:endParaRPr lang="en-US" sz="1800" kern="1200" dirty="0"/>
        </a:p>
      </dsp:txBody>
      <dsp:txXfrm>
        <a:off x="3136713" y="1648588"/>
        <a:ext cx="2057089" cy="720000"/>
      </dsp:txXfrm>
    </dsp:sp>
    <dsp:sp modelId="{59717421-0A32-4279-88B4-4E1FDF066667}">
      <dsp:nvSpPr>
        <dsp:cNvPr id="0" name=""/>
        <dsp:cNvSpPr/>
      </dsp:nvSpPr>
      <dsp:spPr>
        <a:xfrm>
          <a:off x="1120765" y="2882861"/>
          <a:ext cx="1254824" cy="1254824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A8F1EE-6250-44B4-8979-18995A02119C}">
      <dsp:nvSpPr>
        <dsp:cNvPr id="0" name=""/>
        <dsp:cNvSpPr/>
      </dsp:nvSpPr>
      <dsp:spPr>
        <a:xfrm>
          <a:off x="1388187" y="3150282"/>
          <a:ext cx="719981" cy="7199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8D4F44-3E62-4FF1-9BCF-C404FDF88159}">
      <dsp:nvSpPr>
        <dsp:cNvPr id="0" name=""/>
        <dsp:cNvSpPr/>
      </dsp:nvSpPr>
      <dsp:spPr>
        <a:xfrm>
          <a:off x="719633" y="4528533"/>
          <a:ext cx="20570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he-IL" sz="1800" kern="1200" dirty="0"/>
            <a:t>מנהל הסניף: גישה לכל המידע.</a:t>
          </a:r>
          <a:endParaRPr lang="en-US" sz="1800" kern="1200" dirty="0"/>
        </a:p>
      </dsp:txBody>
      <dsp:txXfrm>
        <a:off x="719633" y="4528533"/>
        <a:ext cx="2057089" cy="720000"/>
      </dsp:txXfrm>
    </dsp:sp>
    <dsp:sp modelId="{E7F5453D-37C3-41DC-A6EB-A3D137D9FBF6}">
      <dsp:nvSpPr>
        <dsp:cNvPr id="0" name=""/>
        <dsp:cNvSpPr/>
      </dsp:nvSpPr>
      <dsp:spPr>
        <a:xfrm>
          <a:off x="3537846" y="2882861"/>
          <a:ext cx="1254824" cy="1254824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F35884-552F-4566-9171-00C56104902A}">
      <dsp:nvSpPr>
        <dsp:cNvPr id="0" name=""/>
        <dsp:cNvSpPr/>
      </dsp:nvSpPr>
      <dsp:spPr>
        <a:xfrm>
          <a:off x="3805268" y="3150282"/>
          <a:ext cx="719981" cy="7199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3AC4B1-A673-4E63-9558-6375B1FBCCFD}">
      <dsp:nvSpPr>
        <dsp:cNvPr id="0" name=""/>
        <dsp:cNvSpPr/>
      </dsp:nvSpPr>
      <dsp:spPr>
        <a:xfrm>
          <a:off x="3136713" y="4528533"/>
          <a:ext cx="20570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he-IL" sz="1800" kern="1200" dirty="0"/>
            <a:t>מזכיר</a:t>
          </a:r>
          <a:endParaRPr lang="en-US" sz="1800" kern="1200" dirty="0"/>
        </a:p>
      </dsp:txBody>
      <dsp:txXfrm>
        <a:off x="3136713" y="4528533"/>
        <a:ext cx="205708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5B3191C1-A56D-438F-AC29-43FB0F963B11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96502C92-7B75-4766-A276-80A1CCEC57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19236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502C92-7B75-4766-A276-80A1CCEC575C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37248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7/2/2024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tmp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0D8B3D3E-1C23-3539-B76E-C78E4BE6BA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0351" y="679661"/>
            <a:ext cx="7751298" cy="2344894"/>
          </a:xfrm>
        </p:spPr>
        <p:txBody>
          <a:bodyPr>
            <a:normAutofit/>
          </a:bodyPr>
          <a:lstStyle/>
          <a:p>
            <a:r>
              <a:rPr lang="he-IL" sz="4800" b="1" kern="100" dirty="0">
                <a:solidFill>
                  <a:schemeClr val="accent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פרויקט </a:t>
            </a:r>
            <a:r>
              <a:rPr lang="en-US" sz="4800" b="1" kern="100" dirty="0">
                <a:solidFill>
                  <a:schemeClr val="accent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SQL</a:t>
            </a:r>
          </a:p>
          <a:p>
            <a:r>
              <a:rPr lang="he-IL" sz="6000" dirty="0">
                <a:solidFill>
                  <a:schemeClr val="accent1"/>
                </a:solidFill>
              </a:rPr>
              <a:t>נושא: לונה פארק</a:t>
            </a:r>
          </a:p>
          <a:p>
            <a:pPr algn="r"/>
            <a:endParaRPr lang="he-IL" sz="4000" dirty="0"/>
          </a:p>
        </p:txBody>
      </p:sp>
      <p:sp>
        <p:nvSpPr>
          <p:cNvPr id="2" name="כותרת משנה 2">
            <a:extLst>
              <a:ext uri="{FF2B5EF4-FFF2-40B4-BE49-F238E27FC236}">
                <a16:creationId xmlns:a16="http://schemas.microsoft.com/office/drawing/2014/main" id="{E4CDAEFD-EF9F-F5DB-B3B6-E1369DF648BA}"/>
              </a:ext>
            </a:extLst>
          </p:cNvPr>
          <p:cNvSpPr txBox="1">
            <a:spLocks/>
          </p:cNvSpPr>
          <p:nvPr/>
        </p:nvSpPr>
        <p:spPr>
          <a:xfrm>
            <a:off x="419687" y="4009737"/>
            <a:ext cx="7751298" cy="2344894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>
            <a:lvl1pPr marL="0" indent="0" algn="ctr" defTabSz="914400" rtl="1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4000" dirty="0"/>
              <a:t>מגישה: מוריה כהן</a:t>
            </a:r>
          </a:p>
          <a:p>
            <a:pPr algn="r"/>
            <a:r>
              <a:rPr lang="he-IL" sz="4000" dirty="0"/>
              <a:t>ת.ז: 215294901 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A4D4D0B-289C-899A-74D7-F370E6379E97}"/>
              </a:ext>
            </a:extLst>
          </p:cNvPr>
          <p:cNvSpPr txBox="1">
            <a:spLocks/>
          </p:cNvSpPr>
          <p:nvPr/>
        </p:nvSpPr>
        <p:spPr>
          <a:xfrm>
            <a:off x="10663311" y="46614"/>
            <a:ext cx="1205132" cy="902956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>
            <a:lvl1pPr marL="0" indent="0" algn="ctr" defTabSz="914400" rtl="1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4000" dirty="0"/>
              <a:t>בס"ד</a:t>
            </a:r>
          </a:p>
        </p:txBody>
      </p:sp>
      <p:sp>
        <p:nvSpPr>
          <p:cNvPr id="6" name="סימן חיסור 5">
            <a:extLst>
              <a:ext uri="{FF2B5EF4-FFF2-40B4-BE49-F238E27FC236}">
                <a16:creationId xmlns:a16="http://schemas.microsoft.com/office/drawing/2014/main" id="{A0A34D48-EC8E-2017-88CD-E479A34A6E01}"/>
              </a:ext>
            </a:extLst>
          </p:cNvPr>
          <p:cNvSpPr/>
          <p:nvPr/>
        </p:nvSpPr>
        <p:spPr>
          <a:xfrm>
            <a:off x="1488832" y="3107199"/>
            <a:ext cx="9777045" cy="211018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60940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0D8B3D3E-1C23-3539-B76E-C78E4BE6BA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6383" y="721864"/>
            <a:ext cx="6057239" cy="1553146"/>
          </a:xfrm>
        </p:spPr>
        <p:txBody>
          <a:bodyPr>
            <a:normAutofit/>
          </a:bodyPr>
          <a:lstStyle/>
          <a:p>
            <a:r>
              <a:rPr lang="he-IL" sz="3600" u="sng" kern="1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תוכן עניינים</a:t>
            </a:r>
            <a:endParaRPr lang="he-IL" sz="3600" u="sng" dirty="0">
              <a:solidFill>
                <a:schemeClr val="accent1"/>
              </a:solidFill>
            </a:endParaRPr>
          </a:p>
          <a:p>
            <a:pPr algn="r"/>
            <a:endParaRPr lang="he-IL" sz="4000" dirty="0"/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1E17677E-1EB0-3359-64B5-A3440CF3B156}"/>
              </a:ext>
            </a:extLst>
          </p:cNvPr>
          <p:cNvSpPr txBox="1"/>
          <p:nvPr/>
        </p:nvSpPr>
        <p:spPr>
          <a:xfrm>
            <a:off x="2335237" y="1841242"/>
            <a:ext cx="6457071" cy="532453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2000" dirty="0"/>
              <a:t>מבוא--------------------------------------------------------------2</a:t>
            </a:r>
          </a:p>
          <a:p>
            <a:pPr algn="r" rtl="1"/>
            <a:r>
              <a:rPr lang="he-IL" sz="2000" dirty="0"/>
              <a:t>מטרות </a:t>
            </a:r>
            <a:r>
              <a:rPr lang="he-IL" sz="2000" dirty="0" err="1"/>
              <a:t>הפרוייקט</a:t>
            </a:r>
            <a:r>
              <a:rPr lang="he-IL" sz="2000" dirty="0"/>
              <a:t>-------------------------------------------------3</a:t>
            </a:r>
          </a:p>
          <a:p>
            <a:pPr algn="r" rtl="1"/>
            <a:r>
              <a:rPr lang="he-IL" sz="2000" dirty="0"/>
              <a:t>משתמשי מערכת------------------------------------------------4</a:t>
            </a:r>
          </a:p>
          <a:p>
            <a:pPr algn="r" rtl="1"/>
            <a:r>
              <a:rPr lang="he-IL" sz="2000" dirty="0"/>
              <a:t>הרשאות----------------------------------------------------------5</a:t>
            </a:r>
          </a:p>
          <a:p>
            <a:pPr algn="r" rtl="1"/>
            <a:r>
              <a:rPr lang="he-IL" sz="2000" dirty="0"/>
              <a:t>תרשים ישויות קשרים-------------------------------------------6</a:t>
            </a:r>
          </a:p>
          <a:p>
            <a:pPr algn="r" rtl="1"/>
            <a:r>
              <a:rPr lang="he-IL" sz="2000" dirty="0"/>
              <a:t>תיאור התלויות---------------------------------------------------7</a:t>
            </a:r>
          </a:p>
          <a:p>
            <a:pPr algn="r" rtl="1"/>
            <a:r>
              <a:rPr lang="he-IL" sz="2000" dirty="0"/>
              <a:t>דיאגרמת קשרים-------------------------------------------------8</a:t>
            </a:r>
          </a:p>
          <a:p>
            <a:pPr algn="r" rtl="1"/>
            <a:r>
              <a:rPr lang="he-IL" sz="2000" dirty="0"/>
              <a:t>אילוצי נתונים-----------------------------------------------------9</a:t>
            </a:r>
          </a:p>
          <a:p>
            <a:pPr algn="r" rtl="1"/>
            <a:r>
              <a:rPr lang="he-IL" sz="2000" dirty="0"/>
              <a:t>שאילתות--------------------------------------------------------10</a:t>
            </a:r>
          </a:p>
          <a:p>
            <a:pPr algn="r" rtl="1"/>
            <a:r>
              <a:rPr lang="he-IL" sz="2000" dirty="0"/>
              <a:t>טבלה מדומה---------------------------------------------------13</a:t>
            </a:r>
          </a:p>
          <a:p>
            <a:pPr algn="r" rtl="1"/>
            <a:r>
              <a:rPr lang="he-IL" sz="2000" dirty="0"/>
              <a:t>פרוצדורות------------------------------------------------------14</a:t>
            </a:r>
          </a:p>
          <a:p>
            <a:pPr algn="r" rtl="1"/>
            <a:r>
              <a:rPr lang="he-IL" sz="2000" dirty="0"/>
              <a:t>פונקציות--------------------------------------------------------20</a:t>
            </a:r>
          </a:p>
          <a:p>
            <a:pPr algn="r" rtl="1"/>
            <a:r>
              <a:rPr lang="he-IL" sz="2000" dirty="0"/>
              <a:t>טריגר-----------------------------------------------------------25</a:t>
            </a:r>
          </a:p>
          <a:p>
            <a:pPr algn="r" rtl="1"/>
            <a:r>
              <a:rPr lang="he-IL" sz="2000" dirty="0" err="1"/>
              <a:t>טרנזקציה</a:t>
            </a:r>
            <a:r>
              <a:rPr lang="he-IL" sz="2000" dirty="0"/>
              <a:t>------------------------------------------------------26</a:t>
            </a:r>
          </a:p>
          <a:p>
            <a:pPr algn="r" rtl="1"/>
            <a:endParaRPr lang="he-IL" sz="2000" dirty="0"/>
          </a:p>
          <a:p>
            <a:pPr algn="r" rtl="1"/>
            <a:endParaRPr lang="he-IL" sz="2000" dirty="0"/>
          </a:p>
          <a:p>
            <a:pPr algn="r" rtl="1"/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1622627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0D8B3D3E-1C23-3539-B76E-C78E4BE6BA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6383" y="721864"/>
            <a:ext cx="6057239" cy="1553146"/>
          </a:xfrm>
        </p:spPr>
        <p:txBody>
          <a:bodyPr>
            <a:normAutofit fontScale="92500" lnSpcReduction="10000"/>
          </a:bodyPr>
          <a:lstStyle/>
          <a:p>
            <a:r>
              <a:rPr lang="he-IL" sz="4000" u="sng" dirty="0">
                <a:solidFill>
                  <a:schemeClr val="accent1"/>
                </a:solidFill>
              </a:rPr>
              <a:t>מבוא</a:t>
            </a:r>
          </a:p>
          <a:p>
            <a:r>
              <a:rPr lang="he-IL" sz="3600" u="sng" kern="1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תיאור הארגון</a:t>
            </a:r>
            <a:endParaRPr lang="he-IL" sz="3600" u="sng" dirty="0">
              <a:solidFill>
                <a:schemeClr val="accent1"/>
              </a:solidFill>
            </a:endParaRPr>
          </a:p>
          <a:p>
            <a:pPr algn="r"/>
            <a:endParaRPr lang="he-IL" sz="4000" dirty="0"/>
          </a:p>
        </p:txBody>
      </p:sp>
      <p:sp>
        <p:nvSpPr>
          <p:cNvPr id="5" name="כותרת 1">
            <a:extLst>
              <a:ext uri="{FF2B5EF4-FFF2-40B4-BE49-F238E27FC236}">
                <a16:creationId xmlns:a16="http://schemas.microsoft.com/office/drawing/2014/main" id="{1C3D3FDA-3885-3544-E020-B36873C5C80D}"/>
              </a:ext>
            </a:extLst>
          </p:cNvPr>
          <p:cNvSpPr txBox="1">
            <a:spLocks/>
          </p:cNvSpPr>
          <p:nvPr/>
        </p:nvSpPr>
        <p:spPr>
          <a:xfrm>
            <a:off x="1567784" y="1974973"/>
            <a:ext cx="8319166" cy="3628387"/>
          </a:xfrm>
          <a:prstGeom prst="rect">
            <a:avLst/>
          </a:prstGeom>
        </p:spPr>
        <p:txBody>
          <a:bodyPr lIns="91440" tIns="45720" rIns="91440" bIns="45720" anchor="b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i="0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rtl="1">
              <a:lnSpc>
                <a:spcPct val="107000"/>
              </a:lnSpc>
              <a:spcAft>
                <a:spcPts val="800"/>
              </a:spcAft>
            </a:pPr>
            <a:b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sz="1800" kern="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הלונה פארק "לונה כיף" הינו לונה פארק הנמצא בתל אביב וכולל מספר מתקנים אטרקטיביים במיוחד. פעמים רבות כאשר הלונה פארק פעיל מתקיימות בו פעילויות. </a:t>
            </a:r>
            <a:br>
              <a:rPr lang="en-US" sz="1800" kern="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sz="1800" kern="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קהל היעד העיקרי של הלונה פארקים הוא משפחות עם ילדים</a:t>
            </a:r>
            <a:r>
              <a:rPr lang="en-US" sz="1800" kern="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he-IL" sz="1800" kern="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אך הם פונים גם לקהל רחב יותר הכולל צעירים</a:t>
            </a:r>
            <a:r>
              <a:rPr lang="en-US" sz="1800" kern="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he-IL" sz="1800" kern="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מבוגרים וזוגות</a:t>
            </a:r>
            <a:r>
              <a:rPr lang="en-US" sz="1800" kern="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n-US" sz="1800" kern="1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he-IL" sz="1800" kern="1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הפארק מציעה מגוון אטרקציות המתאימות לכל טעם ורמת אדרנלין</a:t>
            </a:r>
            <a:r>
              <a:rPr lang="en-US" sz="1800" kern="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he-IL" sz="1800" kern="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כך שכל אחד יכול למצוא משהו מהנה עבורו</a:t>
            </a:r>
            <a:r>
              <a:rPr lang="en-US" sz="1800" kern="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</a:t>
            </a:r>
            <a:r>
              <a:rPr lang="he-IL" sz="1800" kern="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הקטנטנים ייהנו מקרוסלות, מראלי ספארי, ממגלשות מים ועוד; הצעירים ידהרו במכוניות המתנגשות, בגלגל הענק וברכבת ההרים</a:t>
            </a:r>
            <a:r>
              <a:rPr lang="en-US" sz="1800" kern="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...</a:t>
            </a:r>
            <a:r>
              <a:rPr lang="en-US" sz="1800" kern="1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he-IL" sz="1800" kern="1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והגדולים ממש יחגגו על האנקונדה, הטופ ספין. בלילה, הכול מואר בהמון צבע ויוצר תחושה של חגיגה גדולה ומתמשכת.</a:t>
            </a:r>
            <a:br>
              <a:rPr lang="en-US" sz="1800" kern="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sz="1800" kern="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לונה כיף מעסיק עובדים החל מגיל 18 ומעלה למען בטחון המבקרים.</a:t>
            </a:r>
            <a:br>
              <a:rPr lang="en-US" sz="1800" kern="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he-IL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8010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30B326A-C054-4820-AFCA-FCB009ABC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e-IL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265DFC7-1B2A-4A32-9C43-C48EA6FF6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53B328C-A402-44DE-AABB-9BFBB6617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835D34E-498A-4A24-B274-284CDC7EA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שולחן עבודה עם פריטים להגברת הפרודוקטיביות">
            <a:extLst>
              <a:ext uri="{FF2B5EF4-FFF2-40B4-BE49-F238E27FC236}">
                <a16:creationId xmlns:a16="http://schemas.microsoft.com/office/drawing/2014/main" id="{435B700F-5B01-54CF-9409-FD0256B6DC4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</a:blip>
          <a:srcRect r="-1" b="15728"/>
          <a:stretch/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sp>
        <p:nvSpPr>
          <p:cNvPr id="6" name="כותרת 1">
            <a:extLst>
              <a:ext uri="{FF2B5EF4-FFF2-40B4-BE49-F238E27FC236}">
                <a16:creationId xmlns:a16="http://schemas.microsoft.com/office/drawing/2014/main" id="{055537AA-D1B6-BFF2-D624-37285053A73F}"/>
              </a:ext>
            </a:extLst>
          </p:cNvPr>
          <p:cNvSpPr txBox="1">
            <a:spLocks/>
          </p:cNvSpPr>
          <p:nvPr/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u="sng" dirty="0"/>
              <a:t>מטרות הפרויקט: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F361C2-A8AA-4EC2-AA31-850CB6516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928A74C-7F50-4F37-A11F-A02F9C35D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A170837-E949-4116-A014-1727EF9B08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כותרת 1">
            <a:extLst>
              <a:ext uri="{FF2B5EF4-FFF2-40B4-BE49-F238E27FC236}">
                <a16:creationId xmlns:a16="http://schemas.microsoft.com/office/drawing/2014/main" id="{CBE4AC71-5A40-1677-EFA4-B1BB7BD5DAFC}"/>
              </a:ext>
            </a:extLst>
          </p:cNvPr>
          <p:cNvSpPr txBox="1">
            <a:spLocks/>
          </p:cNvSpPr>
          <p:nvPr/>
        </p:nvSpPr>
        <p:spPr>
          <a:xfrm>
            <a:off x="1451579" y="2138586"/>
            <a:ext cx="7744431" cy="3160564"/>
          </a:xfrm>
          <a:prstGeom prst="rect">
            <a:avLst/>
          </a:prstGeom>
        </p:spPr>
        <p:txBody>
          <a:bodyPr lIns="91440" tIns="45720" rIns="91440" bIns="45720" anchor="b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i="0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r" rtl="1">
              <a:lnSpc>
                <a:spcPct val="107000"/>
              </a:lnSpc>
              <a:buFont typeface="+mj-lt"/>
              <a:buAutoNum type="arabicPeriod"/>
            </a:pPr>
            <a:r>
              <a:rPr lang="he-IL" sz="2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חישוב יעיל של משכורות העובדים.</a:t>
            </a:r>
            <a:endParaRPr lang="en-US" sz="21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r" rtl="1">
              <a:lnSpc>
                <a:spcPct val="107000"/>
              </a:lnSpc>
              <a:buFont typeface="+mj-lt"/>
              <a:buAutoNum type="arabicPeriod"/>
            </a:pPr>
            <a:r>
              <a:rPr lang="he-IL" sz="2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מעקב אחר מתקן שזמן ההמתנה אליו עולה על שעה – הפחתת זמן הפעילות .</a:t>
            </a:r>
            <a:endParaRPr lang="en-US" sz="21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r" rtl="1">
              <a:lnSpc>
                <a:spcPct val="107000"/>
              </a:lnSpc>
              <a:buFont typeface="+mj-lt"/>
              <a:buAutoNum type="arabicPeriod"/>
            </a:pPr>
            <a:r>
              <a:rPr lang="he-IL" sz="2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בדיקה באיזה מגמה רווחית נמצא העסק – עלייה או ירידה.</a:t>
            </a:r>
            <a:endParaRPr lang="en-US" sz="21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r" rtl="1">
              <a:lnSpc>
                <a:spcPct val="107000"/>
              </a:lnSpc>
              <a:buFont typeface="+mj-lt"/>
              <a:buAutoNum type="arabicPeriod"/>
            </a:pPr>
            <a:r>
              <a:rPr lang="he-IL" sz="2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לספק למזמין הכרטיס מידע על המופע שיש באותו היום.</a:t>
            </a:r>
            <a:endParaRPr lang="en-US" sz="21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e-IL" sz="2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מידע על הלקוחות והעדפותיהם, מקום מגוריהם וגיליהם על מנת לפתוח עוד סניף בצורה הרווחית ביותר.</a:t>
            </a:r>
            <a:endParaRPr lang="en-US" sz="21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1">
              <a:lnSpc>
                <a:spcPct val="107000"/>
              </a:lnSpc>
              <a:spcAft>
                <a:spcPts val="800"/>
              </a:spcAft>
            </a:pPr>
            <a:b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he-IL" sz="1400" dirty="0"/>
          </a:p>
        </p:txBody>
      </p:sp>
    </p:spTree>
    <p:extLst>
      <p:ext uri="{BB962C8B-B14F-4D97-AF65-F5344CB8AC3E}">
        <p14:creationId xmlns:p14="http://schemas.microsoft.com/office/powerpoint/2010/main" val="426313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כותרת 1">
            <a:extLst>
              <a:ext uri="{FF2B5EF4-FFF2-40B4-BE49-F238E27FC236}">
                <a16:creationId xmlns:a16="http://schemas.microsoft.com/office/drawing/2014/main" id="{FBBBA8E1-8B1B-87A8-9223-B97D8F0D20A8}"/>
              </a:ext>
            </a:extLst>
          </p:cNvPr>
          <p:cNvSpPr txBox="1">
            <a:spLocks/>
          </p:cNvSpPr>
          <p:nvPr/>
        </p:nvSpPr>
        <p:spPr>
          <a:xfrm>
            <a:off x="7555992" y="2307409"/>
            <a:ext cx="3157577" cy="37473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dirty="0"/>
              <a:t>משתמשי המערכת:</a:t>
            </a:r>
          </a:p>
        </p:txBody>
      </p:sp>
      <p:graphicFrame>
        <p:nvGraphicFramePr>
          <p:cNvPr id="7" name="כותרת 1">
            <a:extLst>
              <a:ext uri="{FF2B5EF4-FFF2-40B4-BE49-F238E27FC236}">
                <a16:creationId xmlns:a16="http://schemas.microsoft.com/office/drawing/2014/main" id="{0772DA56-E1E4-3CC2-D19F-E5E20C05BB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0046669"/>
              </p:ext>
            </p:extLst>
          </p:nvPr>
        </p:nvGraphicFramePr>
        <p:xfrm>
          <a:off x="1136347" y="803275"/>
          <a:ext cx="5913437" cy="5251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סימן חיסור 7">
            <a:extLst>
              <a:ext uri="{FF2B5EF4-FFF2-40B4-BE49-F238E27FC236}">
                <a16:creationId xmlns:a16="http://schemas.microsoft.com/office/drawing/2014/main" id="{C7070231-09FB-F150-5B88-DC5B904730C6}"/>
              </a:ext>
            </a:extLst>
          </p:cNvPr>
          <p:cNvSpPr/>
          <p:nvPr/>
        </p:nvSpPr>
        <p:spPr>
          <a:xfrm>
            <a:off x="7007580" y="2025745"/>
            <a:ext cx="4316911" cy="213235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8381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כותרת 1">
            <a:extLst>
              <a:ext uri="{FF2B5EF4-FFF2-40B4-BE49-F238E27FC236}">
                <a16:creationId xmlns:a16="http://schemas.microsoft.com/office/drawing/2014/main" id="{EFDD2817-B512-ECC6-7819-64BA6C7FB72A}"/>
              </a:ext>
            </a:extLst>
          </p:cNvPr>
          <p:cNvSpPr txBox="1">
            <a:spLocks/>
          </p:cNvSpPr>
          <p:nvPr/>
        </p:nvSpPr>
        <p:spPr>
          <a:xfrm>
            <a:off x="1393054" y="860979"/>
            <a:ext cx="9405891" cy="10029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he-IL" sz="3700" dirty="0">
                <a:latin typeface="+mn-lt"/>
                <a:ea typeface="+mn-ea"/>
                <a:cs typeface="+mn-cs"/>
              </a:rPr>
              <a:t>הרשאות</a:t>
            </a:r>
            <a:endParaRPr lang="en-US" sz="370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סימן חיסור 7">
            <a:extLst>
              <a:ext uri="{FF2B5EF4-FFF2-40B4-BE49-F238E27FC236}">
                <a16:creationId xmlns:a16="http://schemas.microsoft.com/office/drawing/2014/main" id="{C09FB6BA-9268-1507-40CF-00DDF8E081C9}"/>
              </a:ext>
            </a:extLst>
          </p:cNvPr>
          <p:cNvSpPr/>
          <p:nvPr/>
        </p:nvSpPr>
        <p:spPr>
          <a:xfrm>
            <a:off x="1505243" y="1758460"/>
            <a:ext cx="9777045" cy="211018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6B5C601B-3D44-F990-E907-86089E298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463" y="2124223"/>
            <a:ext cx="5686604" cy="450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765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אליפסה 40">
            <a:extLst>
              <a:ext uri="{FF2B5EF4-FFF2-40B4-BE49-F238E27FC236}">
                <a16:creationId xmlns:a16="http://schemas.microsoft.com/office/drawing/2014/main" id="{C0FC5F73-B736-EE44-2C17-EF22A21C114C}"/>
              </a:ext>
            </a:extLst>
          </p:cNvPr>
          <p:cNvSpPr/>
          <p:nvPr/>
        </p:nvSpPr>
        <p:spPr>
          <a:xfrm>
            <a:off x="7183690" y="4356030"/>
            <a:ext cx="2411592" cy="1329759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8" name="סימן חיסור 7">
            <a:extLst>
              <a:ext uri="{FF2B5EF4-FFF2-40B4-BE49-F238E27FC236}">
                <a16:creationId xmlns:a16="http://schemas.microsoft.com/office/drawing/2014/main" id="{C09FB6BA-9268-1507-40CF-00DDF8E081C9}"/>
              </a:ext>
            </a:extLst>
          </p:cNvPr>
          <p:cNvSpPr/>
          <p:nvPr/>
        </p:nvSpPr>
        <p:spPr>
          <a:xfrm>
            <a:off x="1505243" y="1758460"/>
            <a:ext cx="9777045" cy="211018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כותרת 1">
            <a:extLst>
              <a:ext uri="{FF2B5EF4-FFF2-40B4-BE49-F238E27FC236}">
                <a16:creationId xmlns:a16="http://schemas.microsoft.com/office/drawing/2014/main" id="{51B3D621-78FC-F22C-11F6-96B0D36F0315}"/>
              </a:ext>
            </a:extLst>
          </p:cNvPr>
          <p:cNvSpPr txBox="1">
            <a:spLocks/>
          </p:cNvSpPr>
          <p:nvPr/>
        </p:nvSpPr>
        <p:spPr>
          <a:xfrm>
            <a:off x="3435298" y="901760"/>
            <a:ext cx="5321403" cy="589894"/>
          </a:xfrm>
          <a:prstGeom prst="rect">
            <a:avLst/>
          </a:prstGeom>
        </p:spPr>
        <p:txBody>
          <a:bodyPr vert="horz" lIns="91440" tIns="45720" rIns="91440" bIns="0" rtlCol="0" anchor="b">
            <a:normAutofit fontScale="92500" lnSpcReduction="10000"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he-IL" sz="4400" dirty="0">
                <a:latin typeface="+mn-lt"/>
                <a:ea typeface="+mn-ea"/>
                <a:cs typeface="+mn-cs"/>
              </a:rPr>
              <a:t>תרשים ישויות קשרים</a:t>
            </a:r>
            <a:r>
              <a:rPr lang="he-IL" sz="1200" dirty="0"/>
              <a:t>:</a:t>
            </a:r>
          </a:p>
        </p:txBody>
      </p:sp>
      <p:sp>
        <p:nvSpPr>
          <p:cNvPr id="14" name="Google Shape;132;p17">
            <a:extLst>
              <a:ext uri="{FF2B5EF4-FFF2-40B4-BE49-F238E27FC236}">
                <a16:creationId xmlns:a16="http://schemas.microsoft.com/office/drawing/2014/main" id="{FDE21558-7F39-1543-6C7E-7FABD8D39D18}"/>
              </a:ext>
            </a:extLst>
          </p:cNvPr>
          <p:cNvSpPr/>
          <p:nvPr/>
        </p:nvSpPr>
        <p:spPr>
          <a:xfrm>
            <a:off x="7046716" y="2612447"/>
            <a:ext cx="1673418" cy="559074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dirty="0">
                <a:solidFill>
                  <a:schemeClr val="lt1"/>
                </a:solidFill>
                <a:latin typeface="Gill Sans"/>
                <a:sym typeface="Gill Sans"/>
              </a:rPr>
              <a:t>EmployeePay</a:t>
            </a:r>
          </a:p>
        </p:txBody>
      </p:sp>
      <p:sp>
        <p:nvSpPr>
          <p:cNvPr id="15" name="Google Shape;132;p17">
            <a:extLst>
              <a:ext uri="{FF2B5EF4-FFF2-40B4-BE49-F238E27FC236}">
                <a16:creationId xmlns:a16="http://schemas.microsoft.com/office/drawing/2014/main" id="{1F7EA672-0024-ADFA-C2A2-5A7A55020F29}"/>
              </a:ext>
            </a:extLst>
          </p:cNvPr>
          <p:cNvSpPr/>
          <p:nvPr/>
        </p:nvSpPr>
        <p:spPr>
          <a:xfrm>
            <a:off x="566788" y="5192687"/>
            <a:ext cx="1673418" cy="559074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dirty="0">
                <a:solidFill>
                  <a:schemeClr val="lt1"/>
                </a:solidFill>
                <a:latin typeface="Gill Sans"/>
                <a:sym typeface="Gill Sans"/>
              </a:rPr>
              <a:t>orders</a:t>
            </a:r>
          </a:p>
        </p:txBody>
      </p:sp>
      <p:sp>
        <p:nvSpPr>
          <p:cNvPr id="16" name="Google Shape;132;p17">
            <a:extLst>
              <a:ext uri="{FF2B5EF4-FFF2-40B4-BE49-F238E27FC236}">
                <a16:creationId xmlns:a16="http://schemas.microsoft.com/office/drawing/2014/main" id="{CF3EB774-97FC-6868-7281-34C11F56295D}"/>
              </a:ext>
            </a:extLst>
          </p:cNvPr>
          <p:cNvSpPr/>
          <p:nvPr/>
        </p:nvSpPr>
        <p:spPr>
          <a:xfrm>
            <a:off x="4202482" y="4468030"/>
            <a:ext cx="1673418" cy="559074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dirty="0">
                <a:solidFill>
                  <a:schemeClr val="lt1"/>
                </a:solidFill>
                <a:latin typeface="Gill Sans"/>
                <a:sym typeface="Gill Sans"/>
              </a:rPr>
              <a:t>luna</a:t>
            </a:r>
          </a:p>
        </p:txBody>
      </p:sp>
      <p:sp>
        <p:nvSpPr>
          <p:cNvPr id="17" name="Google Shape;132;p17">
            <a:extLst>
              <a:ext uri="{FF2B5EF4-FFF2-40B4-BE49-F238E27FC236}">
                <a16:creationId xmlns:a16="http://schemas.microsoft.com/office/drawing/2014/main" id="{BC021574-EF90-4E0B-5A8C-69638CD805A6}"/>
              </a:ext>
            </a:extLst>
          </p:cNvPr>
          <p:cNvSpPr/>
          <p:nvPr/>
        </p:nvSpPr>
        <p:spPr>
          <a:xfrm>
            <a:off x="9642824" y="2612446"/>
            <a:ext cx="1673418" cy="559074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dirty="0">
                <a:solidFill>
                  <a:schemeClr val="lt1"/>
                </a:solidFill>
                <a:latin typeface="Gill Sans"/>
                <a:sym typeface="Gill Sans"/>
              </a:rPr>
              <a:t>activities</a:t>
            </a:r>
          </a:p>
        </p:txBody>
      </p:sp>
      <p:sp>
        <p:nvSpPr>
          <p:cNvPr id="18" name="Google Shape;132;p17">
            <a:extLst>
              <a:ext uri="{FF2B5EF4-FFF2-40B4-BE49-F238E27FC236}">
                <a16:creationId xmlns:a16="http://schemas.microsoft.com/office/drawing/2014/main" id="{F44A3FDC-780C-3383-EB7F-9AA52226CC7D}"/>
              </a:ext>
            </a:extLst>
          </p:cNvPr>
          <p:cNvSpPr/>
          <p:nvPr/>
        </p:nvSpPr>
        <p:spPr>
          <a:xfrm>
            <a:off x="281785" y="2371577"/>
            <a:ext cx="1673418" cy="559074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dirty="0">
                <a:solidFill>
                  <a:schemeClr val="lt1"/>
                </a:solidFill>
                <a:latin typeface="Gill Sans"/>
                <a:sym typeface="Gill Sans"/>
              </a:rPr>
              <a:t>costumers</a:t>
            </a:r>
          </a:p>
        </p:txBody>
      </p:sp>
      <p:sp>
        <p:nvSpPr>
          <p:cNvPr id="19" name="Google Shape;132;p17">
            <a:extLst>
              <a:ext uri="{FF2B5EF4-FFF2-40B4-BE49-F238E27FC236}">
                <a16:creationId xmlns:a16="http://schemas.microsoft.com/office/drawing/2014/main" id="{B2AAD5BA-F58B-2B5E-8DE2-976427B9B76D}"/>
              </a:ext>
            </a:extLst>
          </p:cNvPr>
          <p:cNvSpPr/>
          <p:nvPr/>
        </p:nvSpPr>
        <p:spPr>
          <a:xfrm>
            <a:off x="4227929" y="2654912"/>
            <a:ext cx="1673418" cy="559074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employee</a:t>
            </a:r>
          </a:p>
        </p:txBody>
      </p:sp>
      <p:cxnSp>
        <p:nvCxnSpPr>
          <p:cNvPr id="2" name="Google Shape;147;p17">
            <a:extLst>
              <a:ext uri="{FF2B5EF4-FFF2-40B4-BE49-F238E27FC236}">
                <a16:creationId xmlns:a16="http://schemas.microsoft.com/office/drawing/2014/main" id="{35A4F10F-E04F-9DEF-C892-A0B7D36E7550}"/>
              </a:ext>
            </a:extLst>
          </p:cNvPr>
          <p:cNvCxnSpPr>
            <a:cxnSpLocks/>
            <a:endCxn id="120" idx="0"/>
          </p:cNvCxnSpPr>
          <p:nvPr/>
        </p:nvCxnSpPr>
        <p:spPr>
          <a:xfrm flipH="1">
            <a:off x="745025" y="2930651"/>
            <a:ext cx="959488" cy="198225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50;p17">
            <a:extLst>
              <a:ext uri="{FF2B5EF4-FFF2-40B4-BE49-F238E27FC236}">
                <a16:creationId xmlns:a16="http://schemas.microsoft.com/office/drawing/2014/main" id="{5E122BC7-4D7B-0AB6-B059-C502C5A8D94B}"/>
              </a:ext>
            </a:extLst>
          </p:cNvPr>
          <p:cNvSpPr/>
          <p:nvPr/>
        </p:nvSpPr>
        <p:spPr>
          <a:xfrm rot="-954706">
            <a:off x="955654" y="3757525"/>
            <a:ext cx="558744" cy="456445"/>
          </a:xfrm>
          <a:prstGeom prst="diamond">
            <a:avLst/>
          </a:prstGeom>
          <a:solidFill>
            <a:schemeClr val="tx1"/>
          </a:solidFill>
          <a:ln w="15875" cap="flat" cmpd="sng">
            <a:solidFill>
              <a:srgbClr val="895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100" b="0" i="0" u="none" strike="noStrike" cap="none" dirty="0">
              <a:solidFill>
                <a:schemeClr val="bg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6" name="Google Shape;147;p17">
            <a:extLst>
              <a:ext uri="{FF2B5EF4-FFF2-40B4-BE49-F238E27FC236}">
                <a16:creationId xmlns:a16="http://schemas.microsoft.com/office/drawing/2014/main" id="{401B9ECE-26DE-1EA5-2A1E-70D558C98A6D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2240206" y="4747567"/>
            <a:ext cx="1962276" cy="72465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" name="Google Shape;150;p17">
            <a:extLst>
              <a:ext uri="{FF2B5EF4-FFF2-40B4-BE49-F238E27FC236}">
                <a16:creationId xmlns:a16="http://schemas.microsoft.com/office/drawing/2014/main" id="{24AE5D70-F834-2926-A54B-68FC5AF25076}"/>
              </a:ext>
            </a:extLst>
          </p:cNvPr>
          <p:cNvSpPr/>
          <p:nvPr/>
        </p:nvSpPr>
        <p:spPr>
          <a:xfrm>
            <a:off x="2875045" y="4827083"/>
            <a:ext cx="558744" cy="456445"/>
          </a:xfrm>
          <a:prstGeom prst="diamond">
            <a:avLst/>
          </a:prstGeom>
          <a:solidFill>
            <a:schemeClr val="tx1"/>
          </a:solidFill>
          <a:ln w="15875" cap="flat" cmpd="sng">
            <a:solidFill>
              <a:srgbClr val="895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100" b="0" i="0" u="none" strike="noStrike" cap="none" dirty="0">
              <a:solidFill>
                <a:schemeClr val="bg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20" name="Google Shape;147;p17">
            <a:extLst>
              <a:ext uri="{FF2B5EF4-FFF2-40B4-BE49-F238E27FC236}">
                <a16:creationId xmlns:a16="http://schemas.microsoft.com/office/drawing/2014/main" id="{A72FFB24-D64B-5FA4-0D9C-0F6C8FBF7079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5923601" y="2788948"/>
            <a:ext cx="1123115" cy="10303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" name="Google Shape;150;p17">
            <a:extLst>
              <a:ext uri="{FF2B5EF4-FFF2-40B4-BE49-F238E27FC236}">
                <a16:creationId xmlns:a16="http://schemas.microsoft.com/office/drawing/2014/main" id="{08C40FA8-F62E-7B38-4BE8-FC9EFD97667A}"/>
              </a:ext>
            </a:extLst>
          </p:cNvPr>
          <p:cNvSpPr/>
          <p:nvPr/>
        </p:nvSpPr>
        <p:spPr>
          <a:xfrm rot="613720">
            <a:off x="6149220" y="2612243"/>
            <a:ext cx="558744" cy="456445"/>
          </a:xfrm>
          <a:prstGeom prst="diamond">
            <a:avLst/>
          </a:prstGeom>
          <a:solidFill>
            <a:schemeClr val="tx1"/>
          </a:solidFill>
          <a:ln w="15875" cap="flat" cmpd="sng">
            <a:solidFill>
              <a:srgbClr val="895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5</a:t>
            </a:r>
            <a:endParaRPr sz="1100" b="0" i="0" u="none" strike="noStrike" cap="none" dirty="0">
              <a:solidFill>
                <a:schemeClr val="bg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" name="Google Shape;132;p17">
            <a:extLst>
              <a:ext uri="{FF2B5EF4-FFF2-40B4-BE49-F238E27FC236}">
                <a16:creationId xmlns:a16="http://schemas.microsoft.com/office/drawing/2014/main" id="{95F1866B-256E-E1A2-8266-397E685A241F}"/>
              </a:ext>
            </a:extLst>
          </p:cNvPr>
          <p:cNvSpPr/>
          <p:nvPr/>
        </p:nvSpPr>
        <p:spPr>
          <a:xfrm>
            <a:off x="7046716" y="4412307"/>
            <a:ext cx="1673418" cy="559074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dirty="0">
                <a:solidFill>
                  <a:schemeClr val="lt1"/>
                </a:solidFill>
                <a:latin typeface="Gill Sans"/>
                <a:sym typeface="Gill Sans"/>
              </a:rPr>
              <a:t>empDate</a:t>
            </a:r>
          </a:p>
        </p:txBody>
      </p:sp>
      <p:cxnSp>
        <p:nvCxnSpPr>
          <p:cNvPr id="9" name="Google Shape;147;p17">
            <a:extLst>
              <a:ext uri="{FF2B5EF4-FFF2-40B4-BE49-F238E27FC236}">
                <a16:creationId xmlns:a16="http://schemas.microsoft.com/office/drawing/2014/main" id="{3C891140-BB49-B523-0042-C423B35C0DC2}"/>
              </a:ext>
            </a:extLst>
          </p:cNvPr>
          <p:cNvCxnSpPr>
            <a:cxnSpLocks/>
            <a:stCxn id="16" idx="3"/>
            <a:endCxn id="4" idx="1"/>
          </p:cNvCxnSpPr>
          <p:nvPr/>
        </p:nvCxnSpPr>
        <p:spPr>
          <a:xfrm flipV="1">
            <a:off x="5875900" y="4691844"/>
            <a:ext cx="1170816" cy="5572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150;p17">
            <a:extLst>
              <a:ext uri="{FF2B5EF4-FFF2-40B4-BE49-F238E27FC236}">
                <a16:creationId xmlns:a16="http://schemas.microsoft.com/office/drawing/2014/main" id="{57646FDE-D25A-3B3D-A252-DFBA4B9E399C}"/>
              </a:ext>
            </a:extLst>
          </p:cNvPr>
          <p:cNvSpPr/>
          <p:nvPr/>
        </p:nvSpPr>
        <p:spPr>
          <a:xfrm>
            <a:off x="6185308" y="4509807"/>
            <a:ext cx="558744" cy="456445"/>
          </a:xfrm>
          <a:prstGeom prst="diamond">
            <a:avLst/>
          </a:prstGeom>
          <a:solidFill>
            <a:schemeClr val="tx1"/>
          </a:solidFill>
          <a:ln w="15875" cap="flat" cmpd="sng">
            <a:solidFill>
              <a:srgbClr val="895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 sz="1100" b="0" i="0" u="none" strike="noStrike" cap="none" dirty="0">
              <a:solidFill>
                <a:schemeClr val="bg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24" name="Google Shape;147;p17">
            <a:extLst>
              <a:ext uri="{FF2B5EF4-FFF2-40B4-BE49-F238E27FC236}">
                <a16:creationId xmlns:a16="http://schemas.microsoft.com/office/drawing/2014/main" id="{126A9EE6-31A9-B3F9-6375-59E66FB8A565}"/>
              </a:ext>
            </a:extLst>
          </p:cNvPr>
          <p:cNvCxnSpPr>
            <a:cxnSpLocks/>
          </p:cNvCxnSpPr>
          <p:nvPr/>
        </p:nvCxnSpPr>
        <p:spPr>
          <a:xfrm>
            <a:off x="5556863" y="3238768"/>
            <a:ext cx="1539168" cy="108319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150;p17">
            <a:extLst>
              <a:ext uri="{FF2B5EF4-FFF2-40B4-BE49-F238E27FC236}">
                <a16:creationId xmlns:a16="http://schemas.microsoft.com/office/drawing/2014/main" id="{074FA354-780A-D6A1-6A3E-A48EB163FA48}"/>
              </a:ext>
            </a:extLst>
          </p:cNvPr>
          <p:cNvSpPr/>
          <p:nvPr/>
        </p:nvSpPr>
        <p:spPr>
          <a:xfrm>
            <a:off x="5905936" y="3461455"/>
            <a:ext cx="558744" cy="456445"/>
          </a:xfrm>
          <a:prstGeom prst="diamond">
            <a:avLst/>
          </a:prstGeom>
          <a:solidFill>
            <a:schemeClr val="tx1"/>
          </a:solidFill>
          <a:ln w="15875" cap="flat" cmpd="sng">
            <a:solidFill>
              <a:srgbClr val="895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4</a:t>
            </a:r>
            <a:endParaRPr sz="1100" b="0" i="0" u="none" strike="noStrike" cap="none" dirty="0">
              <a:solidFill>
                <a:schemeClr val="bg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158;p17">
            <a:extLst>
              <a:ext uri="{FF2B5EF4-FFF2-40B4-BE49-F238E27FC236}">
                <a16:creationId xmlns:a16="http://schemas.microsoft.com/office/drawing/2014/main" id="{CEBFC25C-390B-424D-AA24-1BBBC0E3E1B5}"/>
              </a:ext>
            </a:extLst>
          </p:cNvPr>
          <p:cNvSpPr txBox="1"/>
          <p:nvPr/>
        </p:nvSpPr>
        <p:spPr>
          <a:xfrm>
            <a:off x="6557786" y="321018"/>
            <a:ext cx="124400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000" dirty="0">
                <a:latin typeface="Gisha"/>
                <a:ea typeface="Gisha"/>
                <a:cs typeface="Gisha"/>
                <a:sym typeface="Gisha"/>
              </a:rPr>
              <a:t>טבלה</a:t>
            </a:r>
            <a:endParaRPr sz="1000" dirty="0">
              <a:latin typeface="Gisha"/>
              <a:ea typeface="Gisha"/>
              <a:cs typeface="Gisha"/>
              <a:sym typeface="Gisha"/>
            </a:endParaRPr>
          </a:p>
        </p:txBody>
      </p:sp>
      <p:sp>
        <p:nvSpPr>
          <p:cNvPr id="27" name="אליפסה 26">
            <a:extLst>
              <a:ext uri="{FF2B5EF4-FFF2-40B4-BE49-F238E27FC236}">
                <a16:creationId xmlns:a16="http://schemas.microsoft.com/office/drawing/2014/main" id="{639F7D61-6C34-4560-9CCE-A3BBA1C971B4}"/>
              </a:ext>
            </a:extLst>
          </p:cNvPr>
          <p:cNvSpPr/>
          <p:nvPr/>
        </p:nvSpPr>
        <p:spPr>
          <a:xfrm>
            <a:off x="3348184" y="195698"/>
            <a:ext cx="914400" cy="523220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28" name="Google Shape;158;p17">
            <a:extLst>
              <a:ext uri="{FF2B5EF4-FFF2-40B4-BE49-F238E27FC236}">
                <a16:creationId xmlns:a16="http://schemas.microsoft.com/office/drawing/2014/main" id="{45AF9245-9A51-4837-9703-C74B12CD4257}"/>
              </a:ext>
            </a:extLst>
          </p:cNvPr>
          <p:cNvSpPr txBox="1"/>
          <p:nvPr/>
        </p:nvSpPr>
        <p:spPr>
          <a:xfrm>
            <a:off x="-162581" y="281913"/>
            <a:ext cx="124400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000" dirty="0">
                <a:latin typeface="Gisha"/>
                <a:ea typeface="Gisha"/>
                <a:cs typeface="Gisha"/>
                <a:sym typeface="Gisha"/>
              </a:rPr>
              <a:t>מפתח ראשי</a:t>
            </a:r>
            <a:endParaRPr sz="1000" dirty="0">
              <a:latin typeface="Gisha"/>
              <a:ea typeface="Gisha"/>
              <a:cs typeface="Gisha"/>
              <a:sym typeface="Gisha"/>
            </a:endParaRPr>
          </a:p>
        </p:txBody>
      </p:sp>
      <p:sp>
        <p:nvSpPr>
          <p:cNvPr id="29" name="אליפסה 28">
            <a:extLst>
              <a:ext uri="{FF2B5EF4-FFF2-40B4-BE49-F238E27FC236}">
                <a16:creationId xmlns:a16="http://schemas.microsoft.com/office/drawing/2014/main" id="{037180BC-3679-42E5-ABC3-ED4EB994EC8D}"/>
              </a:ext>
            </a:extLst>
          </p:cNvPr>
          <p:cNvSpPr/>
          <p:nvPr/>
        </p:nvSpPr>
        <p:spPr>
          <a:xfrm>
            <a:off x="1260147" y="181018"/>
            <a:ext cx="1063181" cy="52322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30" name="Google Shape;158;p17">
            <a:extLst>
              <a:ext uri="{FF2B5EF4-FFF2-40B4-BE49-F238E27FC236}">
                <a16:creationId xmlns:a16="http://schemas.microsoft.com/office/drawing/2014/main" id="{D4F51C22-A2D3-432E-9175-DD88AA9134CC}"/>
              </a:ext>
            </a:extLst>
          </p:cNvPr>
          <p:cNvSpPr txBox="1"/>
          <p:nvPr/>
        </p:nvSpPr>
        <p:spPr>
          <a:xfrm>
            <a:off x="2061139" y="255817"/>
            <a:ext cx="124400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000" dirty="0">
                <a:latin typeface="Gisha"/>
                <a:ea typeface="Gisha"/>
                <a:cs typeface="Gisha"/>
                <a:sym typeface="Gisha"/>
              </a:rPr>
              <a:t>תכונה</a:t>
            </a:r>
            <a:endParaRPr sz="1000" dirty="0">
              <a:latin typeface="Gisha"/>
              <a:ea typeface="Gisha"/>
              <a:cs typeface="Gisha"/>
              <a:sym typeface="Gisha"/>
            </a:endParaRPr>
          </a:p>
        </p:txBody>
      </p:sp>
      <p:sp>
        <p:nvSpPr>
          <p:cNvPr id="31" name="אליפסה 30">
            <a:extLst>
              <a:ext uri="{FF2B5EF4-FFF2-40B4-BE49-F238E27FC236}">
                <a16:creationId xmlns:a16="http://schemas.microsoft.com/office/drawing/2014/main" id="{0497162F-6D58-418B-A42A-B2F78E7C4B87}"/>
              </a:ext>
            </a:extLst>
          </p:cNvPr>
          <p:cNvSpPr/>
          <p:nvPr/>
        </p:nvSpPr>
        <p:spPr>
          <a:xfrm>
            <a:off x="5680871" y="204802"/>
            <a:ext cx="1063181" cy="523220"/>
          </a:xfrm>
          <a:prstGeom prst="ellipse">
            <a:avLst/>
          </a:prstGeom>
          <a:solidFill>
            <a:schemeClr val="tx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32" name="Google Shape;158;p17">
            <a:extLst>
              <a:ext uri="{FF2B5EF4-FFF2-40B4-BE49-F238E27FC236}">
                <a16:creationId xmlns:a16="http://schemas.microsoft.com/office/drawing/2014/main" id="{F49554BF-D6DB-4436-B4E8-44B32BCB6105}"/>
              </a:ext>
            </a:extLst>
          </p:cNvPr>
          <p:cNvSpPr txBox="1"/>
          <p:nvPr/>
        </p:nvSpPr>
        <p:spPr>
          <a:xfrm>
            <a:off x="4259322" y="263811"/>
            <a:ext cx="124400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000" dirty="0">
                <a:latin typeface="Gisha"/>
                <a:ea typeface="Gisha"/>
                <a:cs typeface="Gisha"/>
                <a:sym typeface="Gisha"/>
              </a:rPr>
              <a:t>מפתח זר</a:t>
            </a:r>
            <a:endParaRPr sz="1000" dirty="0">
              <a:latin typeface="Gisha"/>
              <a:ea typeface="Gisha"/>
              <a:cs typeface="Gisha"/>
              <a:sym typeface="Gisha"/>
            </a:endParaRPr>
          </a:p>
        </p:txBody>
      </p:sp>
      <p:sp>
        <p:nvSpPr>
          <p:cNvPr id="33" name="Google Shape;132;p17">
            <a:extLst>
              <a:ext uri="{FF2B5EF4-FFF2-40B4-BE49-F238E27FC236}">
                <a16:creationId xmlns:a16="http://schemas.microsoft.com/office/drawing/2014/main" id="{C132FDDD-6817-4E39-B077-1E5A8D0105C6}"/>
              </a:ext>
            </a:extLst>
          </p:cNvPr>
          <p:cNvSpPr/>
          <p:nvPr/>
        </p:nvSpPr>
        <p:spPr>
          <a:xfrm>
            <a:off x="7911615" y="240477"/>
            <a:ext cx="989548" cy="476344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  <a:latin typeface="Gill Sans"/>
              <a:sym typeface="Gill Sans"/>
            </a:endParaRPr>
          </a:p>
        </p:txBody>
      </p:sp>
      <p:sp>
        <p:nvSpPr>
          <p:cNvPr id="5" name="אליפסה 4">
            <a:extLst>
              <a:ext uri="{FF2B5EF4-FFF2-40B4-BE49-F238E27FC236}">
                <a16:creationId xmlns:a16="http://schemas.microsoft.com/office/drawing/2014/main" id="{FD12D841-9265-9ECD-D52E-26FB7B832581}"/>
              </a:ext>
            </a:extLst>
          </p:cNvPr>
          <p:cNvSpPr/>
          <p:nvPr/>
        </p:nvSpPr>
        <p:spPr>
          <a:xfrm>
            <a:off x="4637970" y="2141407"/>
            <a:ext cx="982515" cy="460339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3E26FD43-61BD-C133-8B15-A75C9E2CE9B8}"/>
              </a:ext>
            </a:extLst>
          </p:cNvPr>
          <p:cNvSpPr txBox="1"/>
          <p:nvPr/>
        </p:nvSpPr>
        <p:spPr>
          <a:xfrm>
            <a:off x="4696871" y="2198225"/>
            <a:ext cx="10302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/>
              <a:t>empid</a:t>
            </a:r>
            <a:endParaRPr lang="he-IL" sz="1600" dirty="0"/>
          </a:p>
        </p:txBody>
      </p:sp>
      <p:sp>
        <p:nvSpPr>
          <p:cNvPr id="11" name="אליפסה 10">
            <a:extLst>
              <a:ext uri="{FF2B5EF4-FFF2-40B4-BE49-F238E27FC236}">
                <a16:creationId xmlns:a16="http://schemas.microsoft.com/office/drawing/2014/main" id="{AE943EB9-F01A-ACC4-3F26-403D231377C1}"/>
              </a:ext>
            </a:extLst>
          </p:cNvPr>
          <p:cNvSpPr/>
          <p:nvPr/>
        </p:nvSpPr>
        <p:spPr>
          <a:xfrm>
            <a:off x="844887" y="4687751"/>
            <a:ext cx="982515" cy="460339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D700BC5E-B61E-DA6E-FF8F-5ECDA29B06CC}"/>
              </a:ext>
            </a:extLst>
          </p:cNvPr>
          <p:cNvSpPr txBox="1"/>
          <p:nvPr/>
        </p:nvSpPr>
        <p:spPr>
          <a:xfrm>
            <a:off x="886545" y="4707213"/>
            <a:ext cx="10302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err="1"/>
              <a:t>ordnum</a:t>
            </a:r>
            <a:endParaRPr lang="he-IL" sz="1600" dirty="0"/>
          </a:p>
        </p:txBody>
      </p:sp>
      <p:sp>
        <p:nvSpPr>
          <p:cNvPr id="22" name="אליפסה 21">
            <a:extLst>
              <a:ext uri="{FF2B5EF4-FFF2-40B4-BE49-F238E27FC236}">
                <a16:creationId xmlns:a16="http://schemas.microsoft.com/office/drawing/2014/main" id="{446AEF34-2528-F631-2B17-87044FCF8B2F}"/>
              </a:ext>
            </a:extLst>
          </p:cNvPr>
          <p:cNvSpPr/>
          <p:nvPr/>
        </p:nvSpPr>
        <p:spPr>
          <a:xfrm>
            <a:off x="598229" y="1815042"/>
            <a:ext cx="982515" cy="460339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34" name="תיבת טקסט 33">
            <a:extLst>
              <a:ext uri="{FF2B5EF4-FFF2-40B4-BE49-F238E27FC236}">
                <a16:creationId xmlns:a16="http://schemas.microsoft.com/office/drawing/2014/main" id="{EAFA45C8-64F4-AFE9-B6FA-7AD76F597C07}"/>
              </a:ext>
            </a:extLst>
          </p:cNvPr>
          <p:cNvSpPr txBox="1"/>
          <p:nvPr/>
        </p:nvSpPr>
        <p:spPr>
          <a:xfrm>
            <a:off x="657130" y="1871860"/>
            <a:ext cx="10302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err="1"/>
              <a:t>custid</a:t>
            </a:r>
            <a:endParaRPr lang="he-IL" sz="1600" dirty="0"/>
          </a:p>
        </p:txBody>
      </p:sp>
      <p:sp>
        <p:nvSpPr>
          <p:cNvPr id="37" name="אליפסה 36">
            <a:extLst>
              <a:ext uri="{FF2B5EF4-FFF2-40B4-BE49-F238E27FC236}">
                <a16:creationId xmlns:a16="http://schemas.microsoft.com/office/drawing/2014/main" id="{59C6DD7E-25BA-E0BF-7F20-4EDC11B51188}"/>
              </a:ext>
            </a:extLst>
          </p:cNvPr>
          <p:cNvSpPr/>
          <p:nvPr/>
        </p:nvSpPr>
        <p:spPr>
          <a:xfrm>
            <a:off x="7180413" y="2120771"/>
            <a:ext cx="982515" cy="460339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38" name="תיבת טקסט 37">
            <a:extLst>
              <a:ext uri="{FF2B5EF4-FFF2-40B4-BE49-F238E27FC236}">
                <a16:creationId xmlns:a16="http://schemas.microsoft.com/office/drawing/2014/main" id="{A1C4B354-0D19-39E0-D61D-AD7DB00C05E1}"/>
              </a:ext>
            </a:extLst>
          </p:cNvPr>
          <p:cNvSpPr txBox="1"/>
          <p:nvPr/>
        </p:nvSpPr>
        <p:spPr>
          <a:xfrm>
            <a:off x="7267259" y="2172732"/>
            <a:ext cx="10302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err="1"/>
              <a:t>payid</a:t>
            </a:r>
            <a:endParaRPr lang="he-IL" sz="1600" dirty="0"/>
          </a:p>
        </p:txBody>
      </p:sp>
      <p:sp>
        <p:nvSpPr>
          <p:cNvPr id="39" name="אליפסה 38">
            <a:extLst>
              <a:ext uri="{FF2B5EF4-FFF2-40B4-BE49-F238E27FC236}">
                <a16:creationId xmlns:a16="http://schemas.microsoft.com/office/drawing/2014/main" id="{214C684B-E0F0-F58F-F579-08ECDFDA75AB}"/>
              </a:ext>
            </a:extLst>
          </p:cNvPr>
          <p:cNvSpPr/>
          <p:nvPr/>
        </p:nvSpPr>
        <p:spPr>
          <a:xfrm>
            <a:off x="4437358" y="3938734"/>
            <a:ext cx="982515" cy="460339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40" name="תיבת טקסט 39">
            <a:extLst>
              <a:ext uri="{FF2B5EF4-FFF2-40B4-BE49-F238E27FC236}">
                <a16:creationId xmlns:a16="http://schemas.microsoft.com/office/drawing/2014/main" id="{91B4AF9C-2A70-E9D7-D19F-FACABC861986}"/>
              </a:ext>
            </a:extLst>
          </p:cNvPr>
          <p:cNvSpPr txBox="1"/>
          <p:nvPr/>
        </p:nvSpPr>
        <p:spPr>
          <a:xfrm>
            <a:off x="4428429" y="3990206"/>
            <a:ext cx="10302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600" dirty="0"/>
              <a:t>lid</a:t>
            </a:r>
            <a:endParaRPr lang="he-IL" sz="1600" dirty="0"/>
          </a:p>
        </p:txBody>
      </p:sp>
      <p:sp>
        <p:nvSpPr>
          <p:cNvPr id="43" name="אליפסה 42">
            <a:extLst>
              <a:ext uri="{FF2B5EF4-FFF2-40B4-BE49-F238E27FC236}">
                <a16:creationId xmlns:a16="http://schemas.microsoft.com/office/drawing/2014/main" id="{FC8C73EF-429F-BE16-B1F7-7BFE1A4E9221}"/>
              </a:ext>
            </a:extLst>
          </p:cNvPr>
          <p:cNvSpPr/>
          <p:nvPr/>
        </p:nvSpPr>
        <p:spPr>
          <a:xfrm>
            <a:off x="3557855" y="2594570"/>
            <a:ext cx="668382" cy="393832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44" name="אליפסה 43">
            <a:extLst>
              <a:ext uri="{FF2B5EF4-FFF2-40B4-BE49-F238E27FC236}">
                <a16:creationId xmlns:a16="http://schemas.microsoft.com/office/drawing/2014/main" id="{30F4F003-F9EC-DBCB-DE6B-FED81358D4F5}"/>
              </a:ext>
            </a:extLst>
          </p:cNvPr>
          <p:cNvSpPr/>
          <p:nvPr/>
        </p:nvSpPr>
        <p:spPr>
          <a:xfrm>
            <a:off x="3866008" y="2228064"/>
            <a:ext cx="662474" cy="362777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/>
              <a:t>id</a:t>
            </a:r>
            <a:endParaRPr lang="he-IL" dirty="0"/>
          </a:p>
        </p:txBody>
      </p:sp>
      <p:sp>
        <p:nvSpPr>
          <p:cNvPr id="45" name="אליפסה 44">
            <a:extLst>
              <a:ext uri="{FF2B5EF4-FFF2-40B4-BE49-F238E27FC236}">
                <a16:creationId xmlns:a16="http://schemas.microsoft.com/office/drawing/2014/main" id="{DCD9FB61-719F-4F0A-B6B3-E7E17A6E257E}"/>
              </a:ext>
            </a:extLst>
          </p:cNvPr>
          <p:cNvSpPr/>
          <p:nvPr/>
        </p:nvSpPr>
        <p:spPr>
          <a:xfrm>
            <a:off x="3724379" y="3124832"/>
            <a:ext cx="668382" cy="393832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46" name="אליפסה 45">
            <a:extLst>
              <a:ext uri="{FF2B5EF4-FFF2-40B4-BE49-F238E27FC236}">
                <a16:creationId xmlns:a16="http://schemas.microsoft.com/office/drawing/2014/main" id="{D10B81A7-9629-AEEC-3140-72F0D00FB972}"/>
              </a:ext>
            </a:extLst>
          </p:cNvPr>
          <p:cNvSpPr/>
          <p:nvPr/>
        </p:nvSpPr>
        <p:spPr>
          <a:xfrm>
            <a:off x="4519915" y="3170145"/>
            <a:ext cx="668382" cy="393832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47" name="אליפסה 46">
            <a:extLst>
              <a:ext uri="{FF2B5EF4-FFF2-40B4-BE49-F238E27FC236}">
                <a16:creationId xmlns:a16="http://schemas.microsoft.com/office/drawing/2014/main" id="{13A79765-E50E-6711-7C73-706E9991C155}"/>
              </a:ext>
            </a:extLst>
          </p:cNvPr>
          <p:cNvSpPr/>
          <p:nvPr/>
        </p:nvSpPr>
        <p:spPr>
          <a:xfrm>
            <a:off x="5305676" y="3153389"/>
            <a:ext cx="668382" cy="393832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48" name="אליפסה 47">
            <a:extLst>
              <a:ext uri="{FF2B5EF4-FFF2-40B4-BE49-F238E27FC236}">
                <a16:creationId xmlns:a16="http://schemas.microsoft.com/office/drawing/2014/main" id="{8808649F-6185-8097-92BB-DAD8E461ECF8}"/>
              </a:ext>
            </a:extLst>
          </p:cNvPr>
          <p:cNvSpPr/>
          <p:nvPr/>
        </p:nvSpPr>
        <p:spPr>
          <a:xfrm>
            <a:off x="5777945" y="2944251"/>
            <a:ext cx="668382" cy="393832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49" name="אליפסה 48">
            <a:extLst>
              <a:ext uri="{FF2B5EF4-FFF2-40B4-BE49-F238E27FC236}">
                <a16:creationId xmlns:a16="http://schemas.microsoft.com/office/drawing/2014/main" id="{73515E19-E615-D51C-D69C-2269E7A100D6}"/>
              </a:ext>
            </a:extLst>
          </p:cNvPr>
          <p:cNvSpPr/>
          <p:nvPr/>
        </p:nvSpPr>
        <p:spPr>
          <a:xfrm>
            <a:off x="5703251" y="2271019"/>
            <a:ext cx="668382" cy="393832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59" name="אליפסה 58">
            <a:extLst>
              <a:ext uri="{FF2B5EF4-FFF2-40B4-BE49-F238E27FC236}">
                <a16:creationId xmlns:a16="http://schemas.microsoft.com/office/drawing/2014/main" id="{860570E3-CDAA-6997-58EE-41554D90E1DF}"/>
              </a:ext>
            </a:extLst>
          </p:cNvPr>
          <p:cNvSpPr/>
          <p:nvPr/>
        </p:nvSpPr>
        <p:spPr>
          <a:xfrm>
            <a:off x="3472841" y="4099606"/>
            <a:ext cx="867987" cy="512848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72" name="אליפסה 71">
            <a:extLst>
              <a:ext uri="{FF2B5EF4-FFF2-40B4-BE49-F238E27FC236}">
                <a16:creationId xmlns:a16="http://schemas.microsoft.com/office/drawing/2014/main" id="{ECFBEAE5-6531-936D-4F27-F1C6D7F125F3}"/>
              </a:ext>
            </a:extLst>
          </p:cNvPr>
          <p:cNvSpPr/>
          <p:nvPr/>
        </p:nvSpPr>
        <p:spPr>
          <a:xfrm>
            <a:off x="6483108" y="3111777"/>
            <a:ext cx="735112" cy="393832"/>
          </a:xfrm>
          <a:prstGeom prst="ellipse">
            <a:avLst/>
          </a:prstGeom>
          <a:solidFill>
            <a:schemeClr val="tx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73" name="תיבת טקסט 72">
            <a:extLst>
              <a:ext uri="{FF2B5EF4-FFF2-40B4-BE49-F238E27FC236}">
                <a16:creationId xmlns:a16="http://schemas.microsoft.com/office/drawing/2014/main" id="{F567911C-91DB-263F-EC70-8B82A1B34672}"/>
              </a:ext>
            </a:extLst>
          </p:cNvPr>
          <p:cNvSpPr txBox="1"/>
          <p:nvPr/>
        </p:nvSpPr>
        <p:spPr>
          <a:xfrm>
            <a:off x="3536898" y="2578226"/>
            <a:ext cx="10302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lname</a:t>
            </a:r>
            <a:endParaRPr lang="he-IL" sz="1600" dirty="0">
              <a:solidFill>
                <a:schemeClr val="bg1"/>
              </a:solidFill>
            </a:endParaRPr>
          </a:p>
        </p:txBody>
      </p:sp>
      <p:sp>
        <p:nvSpPr>
          <p:cNvPr id="74" name="תיבת טקסט 73">
            <a:extLst>
              <a:ext uri="{FF2B5EF4-FFF2-40B4-BE49-F238E27FC236}">
                <a16:creationId xmlns:a16="http://schemas.microsoft.com/office/drawing/2014/main" id="{BCF64340-D6E2-0C12-A200-88AD5CC17080}"/>
              </a:ext>
            </a:extLst>
          </p:cNvPr>
          <p:cNvSpPr txBox="1"/>
          <p:nvPr/>
        </p:nvSpPr>
        <p:spPr>
          <a:xfrm>
            <a:off x="3689254" y="3139016"/>
            <a:ext cx="10302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fname</a:t>
            </a:r>
            <a:endParaRPr lang="he-IL" sz="1600" dirty="0">
              <a:solidFill>
                <a:schemeClr val="bg1"/>
              </a:solidFill>
            </a:endParaRPr>
          </a:p>
        </p:txBody>
      </p:sp>
      <p:sp>
        <p:nvSpPr>
          <p:cNvPr id="75" name="תיבת טקסט 74">
            <a:extLst>
              <a:ext uri="{FF2B5EF4-FFF2-40B4-BE49-F238E27FC236}">
                <a16:creationId xmlns:a16="http://schemas.microsoft.com/office/drawing/2014/main" id="{842F753B-913F-80A1-AAA9-ECA0DC802C78}"/>
              </a:ext>
            </a:extLst>
          </p:cNvPr>
          <p:cNvSpPr txBox="1"/>
          <p:nvPr/>
        </p:nvSpPr>
        <p:spPr>
          <a:xfrm>
            <a:off x="4449688" y="3210139"/>
            <a:ext cx="1030245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position</a:t>
            </a:r>
            <a:endParaRPr lang="he-IL" sz="1400" dirty="0">
              <a:solidFill>
                <a:schemeClr val="bg1"/>
              </a:solidFill>
            </a:endParaRPr>
          </a:p>
        </p:txBody>
      </p:sp>
      <p:sp>
        <p:nvSpPr>
          <p:cNvPr id="76" name="תיבת טקסט 75">
            <a:extLst>
              <a:ext uri="{FF2B5EF4-FFF2-40B4-BE49-F238E27FC236}">
                <a16:creationId xmlns:a16="http://schemas.microsoft.com/office/drawing/2014/main" id="{13C693F3-C094-1298-8AE1-2625A6D08316}"/>
              </a:ext>
            </a:extLst>
          </p:cNvPr>
          <p:cNvSpPr txBox="1"/>
          <p:nvPr/>
        </p:nvSpPr>
        <p:spPr>
          <a:xfrm>
            <a:off x="5334064" y="3109504"/>
            <a:ext cx="1030245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Date</a:t>
            </a:r>
          </a:p>
          <a:p>
            <a:r>
              <a:rPr lang="en-US" sz="1400" dirty="0">
                <a:solidFill>
                  <a:schemeClr val="bg1"/>
                </a:solidFill>
              </a:rPr>
              <a:t>Hire</a:t>
            </a:r>
            <a:endParaRPr lang="he-IL" sz="1400" dirty="0">
              <a:solidFill>
                <a:schemeClr val="bg1"/>
              </a:solidFill>
            </a:endParaRPr>
          </a:p>
        </p:txBody>
      </p:sp>
      <p:sp>
        <p:nvSpPr>
          <p:cNvPr id="77" name="תיבת טקסט 76">
            <a:extLst>
              <a:ext uri="{FF2B5EF4-FFF2-40B4-BE49-F238E27FC236}">
                <a16:creationId xmlns:a16="http://schemas.microsoft.com/office/drawing/2014/main" id="{1A349A51-26B0-DFEB-8D69-21ECBD6CE6CF}"/>
              </a:ext>
            </a:extLst>
          </p:cNvPr>
          <p:cNvSpPr txBox="1"/>
          <p:nvPr/>
        </p:nvSpPr>
        <p:spPr>
          <a:xfrm>
            <a:off x="5660459" y="2998939"/>
            <a:ext cx="1030245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birthday</a:t>
            </a:r>
            <a:endParaRPr lang="he-IL" sz="1400" dirty="0">
              <a:solidFill>
                <a:schemeClr val="bg1"/>
              </a:solidFill>
            </a:endParaRPr>
          </a:p>
        </p:txBody>
      </p:sp>
      <p:sp>
        <p:nvSpPr>
          <p:cNvPr id="78" name="תיבת טקסט 77">
            <a:extLst>
              <a:ext uri="{FF2B5EF4-FFF2-40B4-BE49-F238E27FC236}">
                <a16:creationId xmlns:a16="http://schemas.microsoft.com/office/drawing/2014/main" id="{A7299136-FE42-9F71-EE17-E13536F70A41}"/>
              </a:ext>
            </a:extLst>
          </p:cNvPr>
          <p:cNvSpPr txBox="1"/>
          <p:nvPr/>
        </p:nvSpPr>
        <p:spPr>
          <a:xfrm>
            <a:off x="5714885" y="2308089"/>
            <a:ext cx="10302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mid</a:t>
            </a:r>
            <a:endParaRPr lang="he-IL" sz="1600" dirty="0">
              <a:solidFill>
                <a:schemeClr val="bg1"/>
              </a:solidFill>
            </a:endParaRPr>
          </a:p>
        </p:txBody>
      </p:sp>
      <p:sp>
        <p:nvSpPr>
          <p:cNvPr id="81" name="אליפסה 80">
            <a:extLst>
              <a:ext uri="{FF2B5EF4-FFF2-40B4-BE49-F238E27FC236}">
                <a16:creationId xmlns:a16="http://schemas.microsoft.com/office/drawing/2014/main" id="{F8B82F28-B700-B61D-1880-6954A2770113}"/>
              </a:ext>
            </a:extLst>
          </p:cNvPr>
          <p:cNvSpPr/>
          <p:nvPr/>
        </p:nvSpPr>
        <p:spPr>
          <a:xfrm>
            <a:off x="3487111" y="4900157"/>
            <a:ext cx="867987" cy="512848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82" name="אליפסה 81">
            <a:extLst>
              <a:ext uri="{FF2B5EF4-FFF2-40B4-BE49-F238E27FC236}">
                <a16:creationId xmlns:a16="http://schemas.microsoft.com/office/drawing/2014/main" id="{FD6B42F9-8811-DE51-14B3-3E9C5137F301}"/>
              </a:ext>
            </a:extLst>
          </p:cNvPr>
          <p:cNvSpPr/>
          <p:nvPr/>
        </p:nvSpPr>
        <p:spPr>
          <a:xfrm>
            <a:off x="4509557" y="5027104"/>
            <a:ext cx="867987" cy="512848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83" name="אליפסה 82">
            <a:extLst>
              <a:ext uri="{FF2B5EF4-FFF2-40B4-BE49-F238E27FC236}">
                <a16:creationId xmlns:a16="http://schemas.microsoft.com/office/drawing/2014/main" id="{31C8865B-E7BA-B285-FC98-2D6E273778AA}"/>
              </a:ext>
            </a:extLst>
          </p:cNvPr>
          <p:cNvSpPr/>
          <p:nvPr/>
        </p:nvSpPr>
        <p:spPr>
          <a:xfrm>
            <a:off x="5499863" y="4959376"/>
            <a:ext cx="867987" cy="512848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84" name="אליפסה 83">
            <a:extLst>
              <a:ext uri="{FF2B5EF4-FFF2-40B4-BE49-F238E27FC236}">
                <a16:creationId xmlns:a16="http://schemas.microsoft.com/office/drawing/2014/main" id="{EBC2DEEE-BB6F-8BC4-6DA2-E4D5F5FBD414}"/>
              </a:ext>
            </a:extLst>
          </p:cNvPr>
          <p:cNvSpPr/>
          <p:nvPr/>
        </p:nvSpPr>
        <p:spPr>
          <a:xfrm>
            <a:off x="5401707" y="4030548"/>
            <a:ext cx="867987" cy="512848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85" name="אליפסה 84">
            <a:extLst>
              <a:ext uri="{FF2B5EF4-FFF2-40B4-BE49-F238E27FC236}">
                <a16:creationId xmlns:a16="http://schemas.microsoft.com/office/drawing/2014/main" id="{B80E576C-98C8-C1DA-315F-75A938F3E5AE}"/>
              </a:ext>
            </a:extLst>
          </p:cNvPr>
          <p:cNvSpPr/>
          <p:nvPr/>
        </p:nvSpPr>
        <p:spPr>
          <a:xfrm>
            <a:off x="6385647" y="2230777"/>
            <a:ext cx="867987" cy="512848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89" name="אליפסה 88">
            <a:extLst>
              <a:ext uri="{FF2B5EF4-FFF2-40B4-BE49-F238E27FC236}">
                <a16:creationId xmlns:a16="http://schemas.microsoft.com/office/drawing/2014/main" id="{7FB60951-5F4F-A920-3E22-F29AFD0E6D1E}"/>
              </a:ext>
            </a:extLst>
          </p:cNvPr>
          <p:cNvSpPr/>
          <p:nvPr/>
        </p:nvSpPr>
        <p:spPr>
          <a:xfrm>
            <a:off x="8208588" y="2166843"/>
            <a:ext cx="867987" cy="512848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90" name="אליפסה 89">
            <a:extLst>
              <a:ext uri="{FF2B5EF4-FFF2-40B4-BE49-F238E27FC236}">
                <a16:creationId xmlns:a16="http://schemas.microsoft.com/office/drawing/2014/main" id="{BF9FF416-1F1F-D454-7EA7-09EAF9C1046C}"/>
              </a:ext>
            </a:extLst>
          </p:cNvPr>
          <p:cNvSpPr/>
          <p:nvPr/>
        </p:nvSpPr>
        <p:spPr>
          <a:xfrm>
            <a:off x="7271534" y="4975790"/>
            <a:ext cx="867987" cy="512848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91" name="אליפסה 90">
            <a:extLst>
              <a:ext uri="{FF2B5EF4-FFF2-40B4-BE49-F238E27FC236}">
                <a16:creationId xmlns:a16="http://schemas.microsoft.com/office/drawing/2014/main" id="{53C19E4C-9A86-6CE0-011D-F2903A4AB48E}"/>
              </a:ext>
            </a:extLst>
          </p:cNvPr>
          <p:cNvSpPr/>
          <p:nvPr/>
        </p:nvSpPr>
        <p:spPr>
          <a:xfrm>
            <a:off x="11017002" y="2230777"/>
            <a:ext cx="867987" cy="512848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92" name="אליפסה 91">
            <a:extLst>
              <a:ext uri="{FF2B5EF4-FFF2-40B4-BE49-F238E27FC236}">
                <a16:creationId xmlns:a16="http://schemas.microsoft.com/office/drawing/2014/main" id="{69BCE81B-DD04-27E4-A36E-F99155F89E01}"/>
              </a:ext>
            </a:extLst>
          </p:cNvPr>
          <p:cNvSpPr/>
          <p:nvPr/>
        </p:nvSpPr>
        <p:spPr>
          <a:xfrm>
            <a:off x="10280062" y="2175415"/>
            <a:ext cx="867987" cy="512848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93" name="אליפסה 92">
            <a:extLst>
              <a:ext uri="{FF2B5EF4-FFF2-40B4-BE49-F238E27FC236}">
                <a16:creationId xmlns:a16="http://schemas.microsoft.com/office/drawing/2014/main" id="{3CCDBB6E-4916-0C9D-EDC7-6C53F15680DA}"/>
              </a:ext>
            </a:extLst>
          </p:cNvPr>
          <p:cNvSpPr/>
          <p:nvPr/>
        </p:nvSpPr>
        <p:spPr>
          <a:xfrm>
            <a:off x="9458162" y="2170325"/>
            <a:ext cx="867987" cy="512848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94" name="אליפסה 93">
            <a:extLst>
              <a:ext uri="{FF2B5EF4-FFF2-40B4-BE49-F238E27FC236}">
                <a16:creationId xmlns:a16="http://schemas.microsoft.com/office/drawing/2014/main" id="{685FE20C-8944-85F1-7052-74AFD4126EBC}"/>
              </a:ext>
            </a:extLst>
          </p:cNvPr>
          <p:cNvSpPr/>
          <p:nvPr/>
        </p:nvSpPr>
        <p:spPr>
          <a:xfrm>
            <a:off x="1699686" y="4859288"/>
            <a:ext cx="867987" cy="512848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95" name="אליפסה 94">
            <a:extLst>
              <a:ext uri="{FF2B5EF4-FFF2-40B4-BE49-F238E27FC236}">
                <a16:creationId xmlns:a16="http://schemas.microsoft.com/office/drawing/2014/main" id="{E39BB0F9-379D-704B-3DF7-449D1AFF5C10}"/>
              </a:ext>
            </a:extLst>
          </p:cNvPr>
          <p:cNvSpPr/>
          <p:nvPr/>
        </p:nvSpPr>
        <p:spPr>
          <a:xfrm>
            <a:off x="1840348" y="2247336"/>
            <a:ext cx="867987" cy="512848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96" name="אליפסה 95">
            <a:extLst>
              <a:ext uri="{FF2B5EF4-FFF2-40B4-BE49-F238E27FC236}">
                <a16:creationId xmlns:a16="http://schemas.microsoft.com/office/drawing/2014/main" id="{4330CDD2-C1E0-CDB7-1FEE-927155505766}"/>
              </a:ext>
            </a:extLst>
          </p:cNvPr>
          <p:cNvSpPr/>
          <p:nvPr/>
        </p:nvSpPr>
        <p:spPr>
          <a:xfrm>
            <a:off x="1652849" y="1736489"/>
            <a:ext cx="867987" cy="512848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97" name="אליפסה 96">
            <a:extLst>
              <a:ext uri="{FF2B5EF4-FFF2-40B4-BE49-F238E27FC236}">
                <a16:creationId xmlns:a16="http://schemas.microsoft.com/office/drawing/2014/main" id="{A878CA6C-FE57-DBE0-56EA-C21F413500BB}"/>
              </a:ext>
            </a:extLst>
          </p:cNvPr>
          <p:cNvSpPr/>
          <p:nvPr/>
        </p:nvSpPr>
        <p:spPr>
          <a:xfrm>
            <a:off x="1764403" y="2732379"/>
            <a:ext cx="867987" cy="512848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98" name="אליפסה 97">
            <a:extLst>
              <a:ext uri="{FF2B5EF4-FFF2-40B4-BE49-F238E27FC236}">
                <a16:creationId xmlns:a16="http://schemas.microsoft.com/office/drawing/2014/main" id="{F84DE490-01B2-5B25-2DD1-152C136E517A}"/>
              </a:ext>
            </a:extLst>
          </p:cNvPr>
          <p:cNvSpPr/>
          <p:nvPr/>
        </p:nvSpPr>
        <p:spPr>
          <a:xfrm>
            <a:off x="1002908" y="2926883"/>
            <a:ext cx="867987" cy="512848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100" name="תיבת טקסט 99">
            <a:extLst>
              <a:ext uri="{FF2B5EF4-FFF2-40B4-BE49-F238E27FC236}">
                <a16:creationId xmlns:a16="http://schemas.microsoft.com/office/drawing/2014/main" id="{A8E6C90F-E2B3-FC98-0599-BEE7E5348358}"/>
              </a:ext>
            </a:extLst>
          </p:cNvPr>
          <p:cNvSpPr txBox="1"/>
          <p:nvPr/>
        </p:nvSpPr>
        <p:spPr>
          <a:xfrm>
            <a:off x="3600640" y="4859288"/>
            <a:ext cx="103024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Luna</a:t>
            </a:r>
          </a:p>
          <a:p>
            <a:r>
              <a:rPr lang="en-US" sz="1600" dirty="0">
                <a:solidFill>
                  <a:schemeClr val="bg1"/>
                </a:solidFill>
              </a:rPr>
              <a:t>Name</a:t>
            </a:r>
            <a:endParaRPr lang="he-IL" sz="1600" dirty="0">
              <a:solidFill>
                <a:schemeClr val="bg1"/>
              </a:solidFill>
            </a:endParaRPr>
          </a:p>
        </p:txBody>
      </p:sp>
      <p:sp>
        <p:nvSpPr>
          <p:cNvPr id="87" name="אליפסה 86">
            <a:extLst>
              <a:ext uri="{FF2B5EF4-FFF2-40B4-BE49-F238E27FC236}">
                <a16:creationId xmlns:a16="http://schemas.microsoft.com/office/drawing/2014/main" id="{69D2014B-808C-4F72-BBB6-CAE446C8F1F3}"/>
              </a:ext>
            </a:extLst>
          </p:cNvPr>
          <p:cNvSpPr/>
          <p:nvPr/>
        </p:nvSpPr>
        <p:spPr>
          <a:xfrm>
            <a:off x="8033176" y="3185352"/>
            <a:ext cx="867987" cy="512848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86" name="אליפסה 85">
            <a:extLst>
              <a:ext uri="{FF2B5EF4-FFF2-40B4-BE49-F238E27FC236}">
                <a16:creationId xmlns:a16="http://schemas.microsoft.com/office/drawing/2014/main" id="{7C8A5E14-3616-32B9-501E-12222CF0ED49}"/>
              </a:ext>
            </a:extLst>
          </p:cNvPr>
          <p:cNvSpPr/>
          <p:nvPr/>
        </p:nvSpPr>
        <p:spPr>
          <a:xfrm>
            <a:off x="7187538" y="3253599"/>
            <a:ext cx="867987" cy="512848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highlight>
                <a:srgbClr val="FFFF00"/>
              </a:highlight>
            </a:endParaRPr>
          </a:p>
        </p:txBody>
      </p:sp>
      <p:pic>
        <p:nvPicPr>
          <p:cNvPr id="101" name="תמונה 100">
            <a:extLst>
              <a:ext uri="{FF2B5EF4-FFF2-40B4-BE49-F238E27FC236}">
                <a16:creationId xmlns:a16="http://schemas.microsoft.com/office/drawing/2014/main" id="{13333874-5AB0-FE10-FBA5-169174E3E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4840" y="3157978"/>
            <a:ext cx="1060796" cy="676715"/>
          </a:xfrm>
          <a:prstGeom prst="rect">
            <a:avLst/>
          </a:prstGeom>
        </p:spPr>
      </p:pic>
      <p:sp>
        <p:nvSpPr>
          <p:cNvPr id="103" name="תיבת טקסט 102">
            <a:extLst>
              <a:ext uri="{FF2B5EF4-FFF2-40B4-BE49-F238E27FC236}">
                <a16:creationId xmlns:a16="http://schemas.microsoft.com/office/drawing/2014/main" id="{CE2DA1D1-A445-66B4-87F2-2E9BAF29E0F3}"/>
              </a:ext>
            </a:extLst>
          </p:cNvPr>
          <p:cNvSpPr txBox="1"/>
          <p:nvPr/>
        </p:nvSpPr>
        <p:spPr>
          <a:xfrm>
            <a:off x="8174846" y="3169067"/>
            <a:ext cx="103024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Month</a:t>
            </a:r>
          </a:p>
          <a:p>
            <a:r>
              <a:rPr lang="en-US" sz="1600" dirty="0">
                <a:solidFill>
                  <a:schemeClr val="bg1"/>
                </a:solidFill>
              </a:rPr>
              <a:t>Hour</a:t>
            </a:r>
            <a:endParaRPr lang="he-IL" sz="1600" dirty="0">
              <a:solidFill>
                <a:schemeClr val="bg1"/>
              </a:solidFill>
            </a:endParaRPr>
          </a:p>
        </p:txBody>
      </p:sp>
      <p:sp>
        <p:nvSpPr>
          <p:cNvPr id="104" name="תיבת טקסט 103">
            <a:extLst>
              <a:ext uri="{FF2B5EF4-FFF2-40B4-BE49-F238E27FC236}">
                <a16:creationId xmlns:a16="http://schemas.microsoft.com/office/drawing/2014/main" id="{C776A82A-301C-5E73-1966-05F9556B11EF}"/>
              </a:ext>
            </a:extLst>
          </p:cNvPr>
          <p:cNvSpPr txBox="1"/>
          <p:nvPr/>
        </p:nvSpPr>
        <p:spPr>
          <a:xfrm>
            <a:off x="6469551" y="2338443"/>
            <a:ext cx="10302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bonus</a:t>
            </a:r>
            <a:endParaRPr lang="he-IL" sz="1600" dirty="0">
              <a:solidFill>
                <a:schemeClr val="bg1"/>
              </a:solidFill>
            </a:endParaRPr>
          </a:p>
        </p:txBody>
      </p:sp>
      <p:sp>
        <p:nvSpPr>
          <p:cNvPr id="105" name="תיבת טקסט 104">
            <a:extLst>
              <a:ext uri="{FF2B5EF4-FFF2-40B4-BE49-F238E27FC236}">
                <a16:creationId xmlns:a16="http://schemas.microsoft.com/office/drawing/2014/main" id="{07E6CDD4-61AB-CFC5-65EA-DE25ADB96346}"/>
              </a:ext>
            </a:extLst>
          </p:cNvPr>
          <p:cNvSpPr txBox="1"/>
          <p:nvPr/>
        </p:nvSpPr>
        <p:spPr>
          <a:xfrm>
            <a:off x="8255951" y="2225645"/>
            <a:ext cx="10302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salary</a:t>
            </a:r>
            <a:endParaRPr lang="he-IL" sz="1600" dirty="0">
              <a:solidFill>
                <a:schemeClr val="bg1"/>
              </a:solidFill>
            </a:endParaRPr>
          </a:p>
        </p:txBody>
      </p:sp>
      <p:sp>
        <p:nvSpPr>
          <p:cNvPr id="107" name="תיבת טקסט 106">
            <a:extLst>
              <a:ext uri="{FF2B5EF4-FFF2-40B4-BE49-F238E27FC236}">
                <a16:creationId xmlns:a16="http://schemas.microsoft.com/office/drawing/2014/main" id="{D4C20D08-BA18-630A-FF0F-68FBB9843156}"/>
              </a:ext>
            </a:extLst>
          </p:cNvPr>
          <p:cNvSpPr txBox="1"/>
          <p:nvPr/>
        </p:nvSpPr>
        <p:spPr>
          <a:xfrm>
            <a:off x="8408351" y="2378045"/>
            <a:ext cx="10302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salary</a:t>
            </a:r>
            <a:endParaRPr lang="he-IL" sz="1600" dirty="0">
              <a:solidFill>
                <a:schemeClr val="bg1"/>
              </a:solidFill>
            </a:endParaRPr>
          </a:p>
        </p:txBody>
      </p:sp>
      <p:sp>
        <p:nvSpPr>
          <p:cNvPr id="108" name="תיבת טקסט 107">
            <a:extLst>
              <a:ext uri="{FF2B5EF4-FFF2-40B4-BE49-F238E27FC236}">
                <a16:creationId xmlns:a16="http://schemas.microsoft.com/office/drawing/2014/main" id="{83BCEBE9-8BA0-FEA3-B965-A04D966A27CE}"/>
              </a:ext>
            </a:extLst>
          </p:cNvPr>
          <p:cNvSpPr txBox="1"/>
          <p:nvPr/>
        </p:nvSpPr>
        <p:spPr>
          <a:xfrm>
            <a:off x="6422888" y="3123626"/>
            <a:ext cx="10302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empid</a:t>
            </a:r>
            <a:endParaRPr lang="he-IL" sz="1600" dirty="0">
              <a:solidFill>
                <a:schemeClr val="bg1"/>
              </a:solidFill>
            </a:endParaRPr>
          </a:p>
        </p:txBody>
      </p:sp>
      <p:sp>
        <p:nvSpPr>
          <p:cNvPr id="109" name="תיבת טקסט 108">
            <a:extLst>
              <a:ext uri="{FF2B5EF4-FFF2-40B4-BE49-F238E27FC236}">
                <a16:creationId xmlns:a16="http://schemas.microsoft.com/office/drawing/2014/main" id="{21B0EA0E-BC06-EA18-35A6-9DB62A222794}"/>
              </a:ext>
            </a:extLst>
          </p:cNvPr>
          <p:cNvSpPr txBox="1"/>
          <p:nvPr/>
        </p:nvSpPr>
        <p:spPr>
          <a:xfrm>
            <a:off x="9395575" y="2237232"/>
            <a:ext cx="10302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acttype</a:t>
            </a:r>
            <a:endParaRPr lang="he-IL" sz="1600" dirty="0">
              <a:solidFill>
                <a:schemeClr val="bg1"/>
              </a:solidFill>
            </a:endParaRPr>
          </a:p>
        </p:txBody>
      </p:sp>
      <p:sp>
        <p:nvSpPr>
          <p:cNvPr id="110" name="תיבת טקסט 109">
            <a:extLst>
              <a:ext uri="{FF2B5EF4-FFF2-40B4-BE49-F238E27FC236}">
                <a16:creationId xmlns:a16="http://schemas.microsoft.com/office/drawing/2014/main" id="{0144AEC9-4AB1-D195-3DE0-609405B51182}"/>
              </a:ext>
            </a:extLst>
          </p:cNvPr>
          <p:cNvSpPr txBox="1"/>
          <p:nvPr/>
        </p:nvSpPr>
        <p:spPr>
          <a:xfrm>
            <a:off x="5477952" y="4116716"/>
            <a:ext cx="10302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cost</a:t>
            </a:r>
            <a:endParaRPr lang="he-IL" sz="1600" dirty="0">
              <a:solidFill>
                <a:schemeClr val="bg1"/>
              </a:solidFill>
            </a:endParaRPr>
          </a:p>
        </p:txBody>
      </p:sp>
      <p:sp>
        <p:nvSpPr>
          <p:cNvPr id="111" name="תיבת טקסט 110">
            <a:extLst>
              <a:ext uri="{FF2B5EF4-FFF2-40B4-BE49-F238E27FC236}">
                <a16:creationId xmlns:a16="http://schemas.microsoft.com/office/drawing/2014/main" id="{F096EBAC-80FA-4A58-4FD3-BB562BC9890D}"/>
              </a:ext>
            </a:extLst>
          </p:cNvPr>
          <p:cNvSpPr txBox="1"/>
          <p:nvPr/>
        </p:nvSpPr>
        <p:spPr>
          <a:xfrm>
            <a:off x="5592617" y="4949081"/>
            <a:ext cx="103024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wait</a:t>
            </a:r>
          </a:p>
          <a:p>
            <a:r>
              <a:rPr lang="en-US" sz="1600" dirty="0">
                <a:solidFill>
                  <a:schemeClr val="bg1"/>
                </a:solidFill>
              </a:rPr>
              <a:t>Time</a:t>
            </a:r>
            <a:endParaRPr lang="he-IL" sz="1600" dirty="0">
              <a:solidFill>
                <a:schemeClr val="bg1"/>
              </a:solidFill>
            </a:endParaRPr>
          </a:p>
        </p:txBody>
      </p:sp>
      <p:sp>
        <p:nvSpPr>
          <p:cNvPr id="112" name="תיבת טקסט 111">
            <a:extLst>
              <a:ext uri="{FF2B5EF4-FFF2-40B4-BE49-F238E27FC236}">
                <a16:creationId xmlns:a16="http://schemas.microsoft.com/office/drawing/2014/main" id="{9EA1B8B9-EC12-EDC8-BDB7-ADFDE37DF2FE}"/>
              </a:ext>
            </a:extLst>
          </p:cNvPr>
          <p:cNvSpPr txBox="1"/>
          <p:nvPr/>
        </p:nvSpPr>
        <p:spPr>
          <a:xfrm>
            <a:off x="4673006" y="5072131"/>
            <a:ext cx="10302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age</a:t>
            </a:r>
            <a:endParaRPr lang="he-IL" sz="1600" dirty="0">
              <a:solidFill>
                <a:schemeClr val="bg1"/>
              </a:solidFill>
            </a:endParaRPr>
          </a:p>
        </p:txBody>
      </p:sp>
      <p:sp>
        <p:nvSpPr>
          <p:cNvPr id="113" name="תיבת טקסט 112">
            <a:extLst>
              <a:ext uri="{FF2B5EF4-FFF2-40B4-BE49-F238E27FC236}">
                <a16:creationId xmlns:a16="http://schemas.microsoft.com/office/drawing/2014/main" id="{ECB54738-442E-414A-75CB-ACF631C3C354}"/>
              </a:ext>
            </a:extLst>
          </p:cNvPr>
          <p:cNvSpPr txBox="1"/>
          <p:nvPr/>
        </p:nvSpPr>
        <p:spPr>
          <a:xfrm>
            <a:off x="3443239" y="4142810"/>
            <a:ext cx="10302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actTime</a:t>
            </a:r>
            <a:endParaRPr lang="he-IL" sz="1600" dirty="0">
              <a:solidFill>
                <a:schemeClr val="bg1"/>
              </a:solidFill>
            </a:endParaRPr>
          </a:p>
        </p:txBody>
      </p:sp>
      <p:sp>
        <p:nvSpPr>
          <p:cNvPr id="114" name="תיבת טקסט 113">
            <a:extLst>
              <a:ext uri="{FF2B5EF4-FFF2-40B4-BE49-F238E27FC236}">
                <a16:creationId xmlns:a16="http://schemas.microsoft.com/office/drawing/2014/main" id="{41DBB0DD-A06B-424D-1433-196F6BD25517}"/>
              </a:ext>
            </a:extLst>
          </p:cNvPr>
          <p:cNvSpPr txBox="1"/>
          <p:nvPr/>
        </p:nvSpPr>
        <p:spPr>
          <a:xfrm>
            <a:off x="1695965" y="1688628"/>
            <a:ext cx="103024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Cust</a:t>
            </a:r>
          </a:p>
          <a:p>
            <a:r>
              <a:rPr lang="en-US" sz="1600" dirty="0">
                <a:solidFill>
                  <a:schemeClr val="bg1"/>
                </a:solidFill>
              </a:rPr>
              <a:t>Name</a:t>
            </a:r>
            <a:endParaRPr lang="he-IL" sz="1600" dirty="0">
              <a:solidFill>
                <a:schemeClr val="bg1"/>
              </a:solidFill>
            </a:endParaRPr>
          </a:p>
        </p:txBody>
      </p:sp>
      <p:sp>
        <p:nvSpPr>
          <p:cNvPr id="115" name="תיבת טקסט 114">
            <a:extLst>
              <a:ext uri="{FF2B5EF4-FFF2-40B4-BE49-F238E27FC236}">
                <a16:creationId xmlns:a16="http://schemas.microsoft.com/office/drawing/2014/main" id="{3D52EB3D-7E3F-68E6-C700-C96C5C61B750}"/>
              </a:ext>
            </a:extLst>
          </p:cNvPr>
          <p:cNvSpPr txBox="1"/>
          <p:nvPr/>
        </p:nvSpPr>
        <p:spPr>
          <a:xfrm>
            <a:off x="1962631" y="2333120"/>
            <a:ext cx="10302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city</a:t>
            </a:r>
            <a:endParaRPr lang="he-IL" sz="1600" dirty="0">
              <a:solidFill>
                <a:schemeClr val="bg1"/>
              </a:solidFill>
            </a:endParaRPr>
          </a:p>
        </p:txBody>
      </p:sp>
      <p:sp>
        <p:nvSpPr>
          <p:cNvPr id="116" name="תיבת טקסט 115">
            <a:extLst>
              <a:ext uri="{FF2B5EF4-FFF2-40B4-BE49-F238E27FC236}">
                <a16:creationId xmlns:a16="http://schemas.microsoft.com/office/drawing/2014/main" id="{78BCA761-2E19-4F2A-00F8-126B6D30F477}"/>
              </a:ext>
            </a:extLst>
          </p:cNvPr>
          <p:cNvSpPr txBox="1"/>
          <p:nvPr/>
        </p:nvSpPr>
        <p:spPr>
          <a:xfrm>
            <a:off x="1718969" y="2812913"/>
            <a:ext cx="10302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Cphone</a:t>
            </a:r>
            <a:endParaRPr lang="he-IL" sz="1600" dirty="0">
              <a:solidFill>
                <a:schemeClr val="bg1"/>
              </a:solidFill>
            </a:endParaRPr>
          </a:p>
        </p:txBody>
      </p:sp>
      <p:sp>
        <p:nvSpPr>
          <p:cNvPr id="117" name="תיבת טקסט 116">
            <a:extLst>
              <a:ext uri="{FF2B5EF4-FFF2-40B4-BE49-F238E27FC236}">
                <a16:creationId xmlns:a16="http://schemas.microsoft.com/office/drawing/2014/main" id="{F0B8A6D8-FBF5-3FCB-F361-2ED45F6347A6}"/>
              </a:ext>
            </a:extLst>
          </p:cNvPr>
          <p:cNvSpPr txBox="1"/>
          <p:nvPr/>
        </p:nvSpPr>
        <p:spPr>
          <a:xfrm>
            <a:off x="998122" y="2964869"/>
            <a:ext cx="10302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Cage</a:t>
            </a:r>
            <a:endParaRPr lang="he-IL" sz="1600" dirty="0">
              <a:solidFill>
                <a:schemeClr val="bg1"/>
              </a:solidFill>
            </a:endParaRPr>
          </a:p>
        </p:txBody>
      </p:sp>
      <p:sp>
        <p:nvSpPr>
          <p:cNvPr id="118" name="אליפסה 117">
            <a:extLst>
              <a:ext uri="{FF2B5EF4-FFF2-40B4-BE49-F238E27FC236}">
                <a16:creationId xmlns:a16="http://schemas.microsoft.com/office/drawing/2014/main" id="{33AB25E1-E0A1-C96D-2B12-F7BD86BD6447}"/>
              </a:ext>
            </a:extLst>
          </p:cNvPr>
          <p:cNvSpPr/>
          <p:nvPr/>
        </p:nvSpPr>
        <p:spPr>
          <a:xfrm>
            <a:off x="236436" y="4893448"/>
            <a:ext cx="735112" cy="393832"/>
          </a:xfrm>
          <a:prstGeom prst="ellipse">
            <a:avLst/>
          </a:prstGeom>
          <a:solidFill>
            <a:schemeClr val="tx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20" name="תיבת טקסט 119">
            <a:extLst>
              <a:ext uri="{FF2B5EF4-FFF2-40B4-BE49-F238E27FC236}">
                <a16:creationId xmlns:a16="http://schemas.microsoft.com/office/drawing/2014/main" id="{1C7C71BC-7F68-2D09-B74E-3B64C50D80E3}"/>
              </a:ext>
            </a:extLst>
          </p:cNvPr>
          <p:cNvSpPr txBox="1"/>
          <p:nvPr/>
        </p:nvSpPr>
        <p:spPr>
          <a:xfrm>
            <a:off x="229902" y="4912910"/>
            <a:ext cx="10302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custid</a:t>
            </a:r>
            <a:endParaRPr lang="he-IL" sz="1600" dirty="0">
              <a:solidFill>
                <a:schemeClr val="bg1"/>
              </a:solidFill>
            </a:endParaRPr>
          </a:p>
        </p:txBody>
      </p:sp>
      <p:sp>
        <p:nvSpPr>
          <p:cNvPr id="122" name="תיבת טקסט 121">
            <a:extLst>
              <a:ext uri="{FF2B5EF4-FFF2-40B4-BE49-F238E27FC236}">
                <a16:creationId xmlns:a16="http://schemas.microsoft.com/office/drawing/2014/main" id="{52C872F9-2C61-938C-2B15-13045E77EC27}"/>
              </a:ext>
            </a:extLst>
          </p:cNvPr>
          <p:cNvSpPr txBox="1"/>
          <p:nvPr/>
        </p:nvSpPr>
        <p:spPr>
          <a:xfrm>
            <a:off x="1704513" y="4938967"/>
            <a:ext cx="10302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orddate</a:t>
            </a:r>
            <a:endParaRPr lang="he-IL" sz="1600" dirty="0">
              <a:solidFill>
                <a:schemeClr val="bg1"/>
              </a:solidFill>
            </a:endParaRPr>
          </a:p>
        </p:txBody>
      </p:sp>
      <p:sp>
        <p:nvSpPr>
          <p:cNvPr id="123" name="אליפסה 122">
            <a:extLst>
              <a:ext uri="{FF2B5EF4-FFF2-40B4-BE49-F238E27FC236}">
                <a16:creationId xmlns:a16="http://schemas.microsoft.com/office/drawing/2014/main" id="{68059F77-0DDA-B1E7-ABFD-675661C45744}"/>
              </a:ext>
            </a:extLst>
          </p:cNvPr>
          <p:cNvSpPr/>
          <p:nvPr/>
        </p:nvSpPr>
        <p:spPr>
          <a:xfrm>
            <a:off x="1933810" y="5433678"/>
            <a:ext cx="735112" cy="393832"/>
          </a:xfrm>
          <a:prstGeom prst="ellipse">
            <a:avLst/>
          </a:prstGeom>
          <a:solidFill>
            <a:schemeClr val="tx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24" name="תיבת טקסט 123">
            <a:extLst>
              <a:ext uri="{FF2B5EF4-FFF2-40B4-BE49-F238E27FC236}">
                <a16:creationId xmlns:a16="http://schemas.microsoft.com/office/drawing/2014/main" id="{92667FEA-2D81-A032-E051-C4B7B6C51130}"/>
              </a:ext>
            </a:extLst>
          </p:cNvPr>
          <p:cNvSpPr txBox="1"/>
          <p:nvPr/>
        </p:nvSpPr>
        <p:spPr>
          <a:xfrm>
            <a:off x="2013793" y="5432841"/>
            <a:ext cx="10302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lid</a:t>
            </a:r>
            <a:endParaRPr lang="he-IL" sz="1600" dirty="0">
              <a:solidFill>
                <a:schemeClr val="bg1"/>
              </a:solidFill>
            </a:endParaRPr>
          </a:p>
        </p:txBody>
      </p:sp>
      <p:sp>
        <p:nvSpPr>
          <p:cNvPr id="126" name="אליפסה 125">
            <a:extLst>
              <a:ext uri="{FF2B5EF4-FFF2-40B4-BE49-F238E27FC236}">
                <a16:creationId xmlns:a16="http://schemas.microsoft.com/office/drawing/2014/main" id="{2A386FCF-0E1E-EA41-D557-3DED5FAFE8C3}"/>
              </a:ext>
            </a:extLst>
          </p:cNvPr>
          <p:cNvSpPr/>
          <p:nvPr/>
        </p:nvSpPr>
        <p:spPr>
          <a:xfrm>
            <a:off x="8166051" y="5024821"/>
            <a:ext cx="735112" cy="393832"/>
          </a:xfrm>
          <a:prstGeom prst="ellipse">
            <a:avLst/>
          </a:prstGeom>
          <a:solidFill>
            <a:schemeClr val="tx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27" name="אליפסה 126">
            <a:extLst>
              <a:ext uri="{FF2B5EF4-FFF2-40B4-BE49-F238E27FC236}">
                <a16:creationId xmlns:a16="http://schemas.microsoft.com/office/drawing/2014/main" id="{2F746E5C-2AEC-F5A9-4FDA-981A48D36646}"/>
              </a:ext>
            </a:extLst>
          </p:cNvPr>
          <p:cNvSpPr/>
          <p:nvPr/>
        </p:nvSpPr>
        <p:spPr>
          <a:xfrm>
            <a:off x="8581843" y="4490835"/>
            <a:ext cx="735112" cy="393832"/>
          </a:xfrm>
          <a:prstGeom prst="ellipse">
            <a:avLst/>
          </a:prstGeom>
          <a:solidFill>
            <a:schemeClr val="tx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28" name="תיבת טקסט 127">
            <a:extLst>
              <a:ext uri="{FF2B5EF4-FFF2-40B4-BE49-F238E27FC236}">
                <a16:creationId xmlns:a16="http://schemas.microsoft.com/office/drawing/2014/main" id="{D5E3086D-5AA2-116B-C1CF-28464D045140}"/>
              </a:ext>
            </a:extLst>
          </p:cNvPr>
          <p:cNvSpPr txBox="1"/>
          <p:nvPr/>
        </p:nvSpPr>
        <p:spPr>
          <a:xfrm>
            <a:off x="10402208" y="2236284"/>
            <a:ext cx="10302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act</a:t>
            </a:r>
            <a:endParaRPr lang="he-IL" sz="1600" dirty="0">
              <a:solidFill>
                <a:schemeClr val="bg1"/>
              </a:solidFill>
            </a:endParaRPr>
          </a:p>
        </p:txBody>
      </p:sp>
      <p:sp>
        <p:nvSpPr>
          <p:cNvPr id="129" name="תיבת טקסט 128">
            <a:extLst>
              <a:ext uri="{FF2B5EF4-FFF2-40B4-BE49-F238E27FC236}">
                <a16:creationId xmlns:a16="http://schemas.microsoft.com/office/drawing/2014/main" id="{B8C2B812-B059-703D-2290-8A4B1A57F4ED}"/>
              </a:ext>
            </a:extLst>
          </p:cNvPr>
          <p:cNvSpPr txBox="1"/>
          <p:nvPr/>
        </p:nvSpPr>
        <p:spPr>
          <a:xfrm>
            <a:off x="11010884" y="2317924"/>
            <a:ext cx="10302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actDate</a:t>
            </a:r>
            <a:endParaRPr lang="he-IL" sz="1600" dirty="0">
              <a:solidFill>
                <a:schemeClr val="bg1"/>
              </a:solidFill>
            </a:endParaRPr>
          </a:p>
        </p:txBody>
      </p:sp>
      <p:sp>
        <p:nvSpPr>
          <p:cNvPr id="130" name="אליפסה 129">
            <a:extLst>
              <a:ext uri="{FF2B5EF4-FFF2-40B4-BE49-F238E27FC236}">
                <a16:creationId xmlns:a16="http://schemas.microsoft.com/office/drawing/2014/main" id="{1BADE4C9-27CE-04E0-2546-282038DF3527}"/>
              </a:ext>
            </a:extLst>
          </p:cNvPr>
          <p:cNvSpPr/>
          <p:nvPr/>
        </p:nvSpPr>
        <p:spPr>
          <a:xfrm>
            <a:off x="11184832" y="2776085"/>
            <a:ext cx="867987" cy="512848"/>
          </a:xfrm>
          <a:prstGeom prst="ellipse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131" name="תיבת טקסט 130">
            <a:extLst>
              <a:ext uri="{FF2B5EF4-FFF2-40B4-BE49-F238E27FC236}">
                <a16:creationId xmlns:a16="http://schemas.microsoft.com/office/drawing/2014/main" id="{62F077F0-2F99-8D4B-C6ED-9DB3C62CEF60}"/>
              </a:ext>
            </a:extLst>
          </p:cNvPr>
          <p:cNvSpPr txBox="1"/>
          <p:nvPr/>
        </p:nvSpPr>
        <p:spPr>
          <a:xfrm>
            <a:off x="11282288" y="2812913"/>
            <a:ext cx="10302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cost</a:t>
            </a:r>
            <a:endParaRPr lang="he-IL" sz="1600" dirty="0">
              <a:solidFill>
                <a:schemeClr val="bg1"/>
              </a:solidFill>
            </a:endParaRPr>
          </a:p>
        </p:txBody>
      </p:sp>
      <p:sp>
        <p:nvSpPr>
          <p:cNvPr id="132" name="תיבת טקסט 131">
            <a:extLst>
              <a:ext uri="{FF2B5EF4-FFF2-40B4-BE49-F238E27FC236}">
                <a16:creationId xmlns:a16="http://schemas.microsoft.com/office/drawing/2014/main" id="{F24C5448-698E-1B40-27BC-0E7E2551B67E}"/>
              </a:ext>
            </a:extLst>
          </p:cNvPr>
          <p:cNvSpPr txBox="1"/>
          <p:nvPr/>
        </p:nvSpPr>
        <p:spPr>
          <a:xfrm>
            <a:off x="7334094" y="5023410"/>
            <a:ext cx="10302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edate</a:t>
            </a:r>
            <a:endParaRPr lang="he-IL" sz="1600" dirty="0">
              <a:solidFill>
                <a:schemeClr val="bg1"/>
              </a:solidFill>
            </a:endParaRPr>
          </a:p>
        </p:txBody>
      </p:sp>
      <p:sp>
        <p:nvSpPr>
          <p:cNvPr id="133" name="תיבת טקסט 132">
            <a:extLst>
              <a:ext uri="{FF2B5EF4-FFF2-40B4-BE49-F238E27FC236}">
                <a16:creationId xmlns:a16="http://schemas.microsoft.com/office/drawing/2014/main" id="{1C7836F2-26D1-A940-9D54-C1F8BC51F3DD}"/>
              </a:ext>
            </a:extLst>
          </p:cNvPr>
          <p:cNvSpPr txBox="1"/>
          <p:nvPr/>
        </p:nvSpPr>
        <p:spPr>
          <a:xfrm>
            <a:off x="8297504" y="5046523"/>
            <a:ext cx="10302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lid</a:t>
            </a:r>
            <a:endParaRPr lang="he-IL" sz="1600" dirty="0">
              <a:solidFill>
                <a:schemeClr val="bg1"/>
              </a:solidFill>
            </a:endParaRPr>
          </a:p>
        </p:txBody>
      </p:sp>
      <p:sp>
        <p:nvSpPr>
          <p:cNvPr id="134" name="תיבת טקסט 133">
            <a:extLst>
              <a:ext uri="{FF2B5EF4-FFF2-40B4-BE49-F238E27FC236}">
                <a16:creationId xmlns:a16="http://schemas.microsoft.com/office/drawing/2014/main" id="{223E0722-F9A8-2394-A7E4-F23B70F2906A}"/>
              </a:ext>
            </a:extLst>
          </p:cNvPr>
          <p:cNvSpPr txBox="1"/>
          <p:nvPr/>
        </p:nvSpPr>
        <p:spPr>
          <a:xfrm>
            <a:off x="8526440" y="4531799"/>
            <a:ext cx="103024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empid</a:t>
            </a:r>
            <a:endParaRPr lang="he-IL" sz="1600" dirty="0">
              <a:solidFill>
                <a:schemeClr val="bg1"/>
              </a:solidFill>
            </a:endParaRPr>
          </a:p>
        </p:txBody>
      </p:sp>
      <p:sp>
        <p:nvSpPr>
          <p:cNvPr id="35" name="Google Shape;132;p17">
            <a:extLst>
              <a:ext uri="{FF2B5EF4-FFF2-40B4-BE49-F238E27FC236}">
                <a16:creationId xmlns:a16="http://schemas.microsoft.com/office/drawing/2014/main" id="{23C11497-7B5D-E687-320F-D329D2BC21B8}"/>
              </a:ext>
            </a:extLst>
          </p:cNvPr>
          <p:cNvSpPr/>
          <p:nvPr/>
        </p:nvSpPr>
        <p:spPr>
          <a:xfrm>
            <a:off x="10574452" y="242995"/>
            <a:ext cx="989548" cy="476344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lang="en-US" sz="1600" dirty="0">
              <a:solidFill>
                <a:schemeClr val="lt1"/>
              </a:solidFill>
              <a:latin typeface="Gill Sans"/>
              <a:sym typeface="Gill Sans"/>
            </a:endParaRPr>
          </a:p>
        </p:txBody>
      </p:sp>
      <p:sp>
        <p:nvSpPr>
          <p:cNvPr id="36" name="Google Shape;158;p17">
            <a:extLst>
              <a:ext uri="{FF2B5EF4-FFF2-40B4-BE49-F238E27FC236}">
                <a16:creationId xmlns:a16="http://schemas.microsoft.com/office/drawing/2014/main" id="{667570F4-3B42-0AEA-A218-9D562E9BC797}"/>
              </a:ext>
            </a:extLst>
          </p:cNvPr>
          <p:cNvSpPr txBox="1"/>
          <p:nvPr/>
        </p:nvSpPr>
        <p:spPr>
          <a:xfrm>
            <a:off x="9075677" y="302003"/>
            <a:ext cx="124400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000" dirty="0">
                <a:latin typeface="Gisha"/>
                <a:ea typeface="Gisha"/>
                <a:cs typeface="Gisha"/>
                <a:sym typeface="Gisha"/>
              </a:rPr>
              <a:t>טבלת </a:t>
            </a:r>
          </a:p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000" dirty="0">
                <a:latin typeface="Gisha"/>
                <a:ea typeface="Gisha"/>
                <a:cs typeface="Gisha"/>
                <a:sym typeface="Gisha"/>
              </a:rPr>
              <a:t> ישויות חלשה</a:t>
            </a:r>
          </a:p>
        </p:txBody>
      </p:sp>
    </p:spTree>
    <p:extLst>
      <p:ext uri="{BB962C8B-B14F-4D97-AF65-F5344CB8AC3E}">
        <p14:creationId xmlns:p14="http://schemas.microsoft.com/office/powerpoint/2010/main" val="2262854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כותרת 1">
            <a:extLst>
              <a:ext uri="{FF2B5EF4-FFF2-40B4-BE49-F238E27FC236}">
                <a16:creationId xmlns:a16="http://schemas.microsoft.com/office/drawing/2014/main" id="{EFDD2817-B512-ECC6-7819-64BA6C7FB72A}"/>
              </a:ext>
            </a:extLst>
          </p:cNvPr>
          <p:cNvSpPr txBox="1">
            <a:spLocks/>
          </p:cNvSpPr>
          <p:nvPr/>
        </p:nvSpPr>
        <p:spPr>
          <a:xfrm>
            <a:off x="1393054" y="860979"/>
            <a:ext cx="9405891" cy="10029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he-IL" sz="3700" dirty="0">
                <a:latin typeface="+mn-lt"/>
                <a:ea typeface="+mn-ea"/>
                <a:cs typeface="+mn-cs"/>
              </a:rPr>
              <a:t>תיאור התלויות</a:t>
            </a:r>
            <a:endParaRPr lang="en-US" sz="370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סימן חיסור 7">
            <a:extLst>
              <a:ext uri="{FF2B5EF4-FFF2-40B4-BE49-F238E27FC236}">
                <a16:creationId xmlns:a16="http://schemas.microsoft.com/office/drawing/2014/main" id="{C09FB6BA-9268-1507-40CF-00DDF8E081C9}"/>
              </a:ext>
            </a:extLst>
          </p:cNvPr>
          <p:cNvSpPr/>
          <p:nvPr/>
        </p:nvSpPr>
        <p:spPr>
          <a:xfrm>
            <a:off x="1505243" y="1758460"/>
            <a:ext cx="9777045" cy="211018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EF56B099-39A9-C756-170B-2F3734337433}"/>
              </a:ext>
            </a:extLst>
          </p:cNvPr>
          <p:cNvSpPr txBox="1"/>
          <p:nvPr/>
        </p:nvSpPr>
        <p:spPr>
          <a:xfrm>
            <a:off x="2933113" y="2551837"/>
            <a:ext cx="6921304" cy="313932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r" rtl="1">
              <a:lnSpc>
                <a:spcPct val="150000"/>
              </a:lnSpc>
              <a:buAutoNum type="arabicPeriod"/>
            </a:pPr>
            <a:r>
              <a:rPr lang="he-IL" dirty="0"/>
              <a:t>לקוחות להזמנות: לכל לקוח מספר רב של הזמנות, לכל הזמנה לקוח אחד.</a:t>
            </a:r>
          </a:p>
          <a:p>
            <a:pPr marL="342900" indent="-342900" algn="r" rtl="1">
              <a:lnSpc>
                <a:spcPct val="150000"/>
              </a:lnSpc>
              <a:buAutoNum type="arabicPeriod"/>
            </a:pPr>
            <a:r>
              <a:rPr lang="he-IL" dirty="0"/>
              <a:t>הזמנות למתקנים: לכל הזמנה מתקן אחד, לכל מתקן הזמנות רבות.</a:t>
            </a:r>
          </a:p>
          <a:p>
            <a:pPr algn="r" rtl="1">
              <a:lnSpc>
                <a:spcPct val="150000"/>
              </a:lnSpc>
            </a:pPr>
            <a:r>
              <a:rPr lang="he-IL" dirty="0"/>
              <a:t>3-4. קשר של רבים לרבים: לכל מתקן יש הרבה עובדים ולכל עובד יש הרבה מתקנים בטבלה הזו המפתח הראשי מורכב משלוש שדות.</a:t>
            </a:r>
          </a:p>
          <a:p>
            <a:pPr algn="r" rtl="1">
              <a:lnSpc>
                <a:spcPct val="150000"/>
              </a:lnSpc>
            </a:pPr>
            <a:r>
              <a:rPr lang="he-IL" dirty="0"/>
              <a:t>5. לכל עובד משכורת אחת לכל משכורת עובד אחד.</a:t>
            </a:r>
          </a:p>
          <a:p>
            <a:pPr algn="r" rtl="1">
              <a:lnSpc>
                <a:spcPct val="150000"/>
              </a:lnSpc>
            </a:pPr>
            <a:endParaRPr lang="he-IL" dirty="0"/>
          </a:p>
          <a:p>
            <a:pPr marL="342900" indent="-342900" algn="r" rtl="1">
              <a:buAutoNum type="arabicPeriod"/>
            </a:pPr>
            <a:endParaRPr lang="he-IL" dirty="0"/>
          </a:p>
          <a:p>
            <a:pPr marL="342900" indent="-342900" algn="r" rtl="1">
              <a:buAutoNum type="arabicPeriod"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900184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כותרת 1">
            <a:extLst>
              <a:ext uri="{FF2B5EF4-FFF2-40B4-BE49-F238E27FC236}">
                <a16:creationId xmlns:a16="http://schemas.microsoft.com/office/drawing/2014/main" id="{EFDD2817-B512-ECC6-7819-64BA6C7FB72A}"/>
              </a:ext>
            </a:extLst>
          </p:cNvPr>
          <p:cNvSpPr txBox="1">
            <a:spLocks/>
          </p:cNvSpPr>
          <p:nvPr/>
        </p:nvSpPr>
        <p:spPr>
          <a:xfrm>
            <a:off x="1393054" y="860979"/>
            <a:ext cx="9405891" cy="10029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he-IL" sz="3700" dirty="0">
                <a:latin typeface="+mn-lt"/>
                <a:ea typeface="+mn-ea"/>
                <a:cs typeface="+mn-cs"/>
              </a:rPr>
              <a:t>דיאגרמת קשרים </a:t>
            </a:r>
            <a:endParaRPr lang="en-US" sz="370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סימן חיסור 7">
            <a:extLst>
              <a:ext uri="{FF2B5EF4-FFF2-40B4-BE49-F238E27FC236}">
                <a16:creationId xmlns:a16="http://schemas.microsoft.com/office/drawing/2014/main" id="{C09FB6BA-9268-1507-40CF-00DDF8E081C9}"/>
              </a:ext>
            </a:extLst>
          </p:cNvPr>
          <p:cNvSpPr/>
          <p:nvPr/>
        </p:nvSpPr>
        <p:spPr>
          <a:xfrm>
            <a:off x="1505243" y="1758460"/>
            <a:ext cx="9777045" cy="211018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01DD567A-3ACA-FFB4-39ED-6ACB20436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494" y="1969478"/>
            <a:ext cx="8661009" cy="480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891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כותרת 1">
            <a:extLst>
              <a:ext uri="{FF2B5EF4-FFF2-40B4-BE49-F238E27FC236}">
                <a16:creationId xmlns:a16="http://schemas.microsoft.com/office/drawing/2014/main" id="{EFDD2817-B512-ECC6-7819-64BA6C7FB72A}"/>
              </a:ext>
            </a:extLst>
          </p:cNvPr>
          <p:cNvSpPr txBox="1">
            <a:spLocks/>
          </p:cNvSpPr>
          <p:nvPr/>
        </p:nvSpPr>
        <p:spPr>
          <a:xfrm>
            <a:off x="1393054" y="644533"/>
            <a:ext cx="9405891" cy="10029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 err="1"/>
              <a:t>אילוצי</a:t>
            </a:r>
            <a:r>
              <a:rPr lang="en-US" sz="3600" dirty="0"/>
              <a:t> </a:t>
            </a:r>
            <a:r>
              <a:rPr lang="en-US" sz="3600" dirty="0" err="1"/>
              <a:t>נתונים</a:t>
            </a:r>
            <a:endParaRPr lang="en-US" sz="3600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CC492C64-1295-D949-522A-6245A720E65D}"/>
              </a:ext>
            </a:extLst>
          </p:cNvPr>
          <p:cNvSpPr txBox="1"/>
          <p:nvPr/>
        </p:nvSpPr>
        <p:spPr>
          <a:xfrm>
            <a:off x="1196107" y="2114673"/>
            <a:ext cx="9405891" cy="24035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1. alter table employee add constraint age check(DATEDIFF(d, </a:t>
            </a:r>
            <a:r>
              <a:rPr lang="en-US" sz="1500" dirty="0" err="1"/>
              <a:t>birthday,GETDATE</a:t>
            </a:r>
            <a:r>
              <a:rPr lang="en-US" sz="1500" dirty="0"/>
              <a:t>()) &gt;=18*365)</a:t>
            </a:r>
          </a:p>
          <a:p>
            <a:pPr indent="-228600" algn="l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2. alter table employee add constraint empid check( </a:t>
            </a:r>
            <a:r>
              <a:rPr lang="en-US" sz="1500" dirty="0" err="1"/>
              <a:t>len</a:t>
            </a:r>
            <a:r>
              <a:rPr lang="en-US" sz="1500" dirty="0"/>
              <a:t>(empid)=9)</a:t>
            </a:r>
          </a:p>
          <a:p>
            <a:pPr indent="-228600" algn="l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3. alter table luna add constraint </a:t>
            </a:r>
            <a:r>
              <a:rPr lang="en-US" sz="1500" dirty="0" err="1"/>
              <a:t>lunaName</a:t>
            </a:r>
            <a:r>
              <a:rPr lang="en-US" sz="1500" dirty="0"/>
              <a:t> check (</a:t>
            </a:r>
            <a:r>
              <a:rPr lang="en-US" sz="1500" dirty="0" err="1"/>
              <a:t>lunaName</a:t>
            </a:r>
            <a:r>
              <a:rPr lang="en-US" sz="1500" dirty="0"/>
              <a:t> between ‘a' and ‘z' )</a:t>
            </a:r>
          </a:p>
          <a:p>
            <a:pPr indent="-228600" algn="l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4. alter table </a:t>
            </a:r>
            <a:r>
              <a:rPr lang="en-US" sz="1500" dirty="0" err="1"/>
              <a:t>employee_pay</a:t>
            </a:r>
            <a:r>
              <a:rPr lang="en-US" sz="1500" dirty="0"/>
              <a:t> add constraint bonus check (bonus &lt;1000)</a:t>
            </a:r>
          </a:p>
          <a:p>
            <a:pPr indent="-228600" algn="l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5. alter table </a:t>
            </a:r>
            <a:r>
              <a:rPr lang="en-US" sz="1500" dirty="0" err="1"/>
              <a:t>employee_pay</a:t>
            </a:r>
            <a:r>
              <a:rPr lang="en-US" sz="1500" dirty="0"/>
              <a:t> add constraint payrate check (payrate between 30 and 200)</a:t>
            </a:r>
          </a:p>
          <a:p>
            <a:pPr indent="-228600" algn="l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6. alter table orders add constraint lid check(lid between 1 and 6)</a:t>
            </a:r>
          </a:p>
          <a:p>
            <a:pPr indent="-228600" algn="l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7. alter table </a:t>
            </a:r>
            <a:r>
              <a:rPr lang="en-US" sz="1500" dirty="0" err="1"/>
              <a:t>custumers</a:t>
            </a:r>
            <a:r>
              <a:rPr lang="en-US" sz="1500" dirty="0"/>
              <a:t> add constraint </a:t>
            </a:r>
            <a:r>
              <a:rPr lang="en-US" sz="1500" dirty="0" err="1"/>
              <a:t>custphone</a:t>
            </a:r>
            <a:r>
              <a:rPr lang="en-US" sz="1500" dirty="0"/>
              <a:t> check(</a:t>
            </a:r>
            <a:r>
              <a:rPr lang="en-US" sz="1500" dirty="0" err="1"/>
              <a:t>len</a:t>
            </a:r>
            <a:r>
              <a:rPr lang="en-US" sz="1500" dirty="0"/>
              <a:t>(</a:t>
            </a:r>
            <a:r>
              <a:rPr lang="en-US" sz="1500" dirty="0" err="1"/>
              <a:t>custphone</a:t>
            </a:r>
            <a:r>
              <a:rPr lang="en-US" sz="1500" dirty="0"/>
              <a:t>)=10 or </a:t>
            </a:r>
            <a:r>
              <a:rPr lang="en-US" sz="1500" dirty="0" err="1"/>
              <a:t>len</a:t>
            </a:r>
            <a:r>
              <a:rPr lang="en-US" sz="1500" dirty="0"/>
              <a:t>(</a:t>
            </a:r>
            <a:r>
              <a:rPr lang="en-US" sz="1500" dirty="0" err="1"/>
              <a:t>custphone</a:t>
            </a:r>
            <a:r>
              <a:rPr lang="en-US" sz="1500" dirty="0"/>
              <a:t>)=9)</a:t>
            </a:r>
          </a:p>
        </p:txBody>
      </p:sp>
      <p:sp>
        <p:nvSpPr>
          <p:cNvPr id="8" name="סימן חיסור 7">
            <a:extLst>
              <a:ext uri="{FF2B5EF4-FFF2-40B4-BE49-F238E27FC236}">
                <a16:creationId xmlns:a16="http://schemas.microsoft.com/office/drawing/2014/main" id="{C09FB6BA-9268-1507-40CF-00DDF8E081C9}"/>
              </a:ext>
            </a:extLst>
          </p:cNvPr>
          <p:cNvSpPr/>
          <p:nvPr/>
        </p:nvSpPr>
        <p:spPr>
          <a:xfrm>
            <a:off x="1505243" y="1758460"/>
            <a:ext cx="9777045" cy="211018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81B5FF54-D315-2AFE-F768-E6D907DABE76}"/>
              </a:ext>
            </a:extLst>
          </p:cNvPr>
          <p:cNvSpPr txBox="1"/>
          <p:nvPr/>
        </p:nvSpPr>
        <p:spPr>
          <a:xfrm>
            <a:off x="5992837" y="4469925"/>
            <a:ext cx="4806108" cy="144007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lvl="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he-IL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גיל העובד חייב להיות מעל 18.</a:t>
            </a:r>
            <a:endParaRPr lang="en-US" sz="1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he-IL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אורך המספר זהות חייב להיות בגודל של 9 ספרות.</a:t>
            </a:r>
            <a:endParaRPr lang="en-US" sz="1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he-IL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השם של המתקן חייב להיות אותיות</a:t>
            </a:r>
            <a:r>
              <a:rPr lang="en-US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r>
              <a:rPr lang="he-IL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באנגלית.</a:t>
            </a:r>
            <a:endParaRPr lang="en-US" sz="1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he-IL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הבונוס לעובד חייב להיות לא יותר מ 1000.</a:t>
            </a:r>
            <a:endParaRPr lang="en-US" sz="1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9D8F0E82-5223-288A-7128-3AD5B1D2F01F}"/>
              </a:ext>
            </a:extLst>
          </p:cNvPr>
          <p:cNvSpPr txBox="1"/>
          <p:nvPr/>
        </p:nvSpPr>
        <p:spPr>
          <a:xfrm>
            <a:off x="1026942" y="4541430"/>
            <a:ext cx="4965895" cy="140807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sz="1500" kern="100" dirty="0">
                <a:latin typeface="Calibri" panose="020F0502020204030204" pitchFamily="34" charset="0"/>
                <a:cs typeface="Arial" panose="020B0604020202020204" pitchFamily="34" charset="0"/>
              </a:rPr>
              <a:t>5. השכר לשעה נע בין 30 ל200</a:t>
            </a:r>
          </a:p>
          <a:p>
            <a:pPr algn="r" rtl="1">
              <a:lnSpc>
                <a:spcPct val="150000"/>
              </a:lnSpc>
            </a:pPr>
            <a:r>
              <a:rPr lang="he-IL" sz="1500" kern="100" dirty="0">
                <a:latin typeface="Calibri" panose="020F0502020204030204" pitchFamily="34" charset="0"/>
                <a:cs typeface="Arial" panose="020B0604020202020204" pitchFamily="34" charset="0"/>
              </a:rPr>
              <a:t>6. במתחם יש אפשרות לעד 6 מתקנים.</a:t>
            </a:r>
          </a:p>
          <a:p>
            <a:pPr algn="r" rtl="1">
              <a:lnSpc>
                <a:spcPct val="150000"/>
              </a:lnSpc>
            </a:pPr>
            <a:r>
              <a:rPr lang="he-IL" sz="1500" kern="100" dirty="0">
                <a:latin typeface="Calibri" panose="020F0502020204030204" pitchFamily="34" charset="0"/>
                <a:cs typeface="Arial" panose="020B0604020202020204" pitchFamily="34" charset="0"/>
              </a:rPr>
              <a:t>7. מספר הטלפון של הלקוח חייב להיות באורך של או 9 או 10. </a:t>
            </a:r>
          </a:p>
          <a:p>
            <a:pPr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86279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סימן חיסור 7">
            <a:extLst>
              <a:ext uri="{FF2B5EF4-FFF2-40B4-BE49-F238E27FC236}">
                <a16:creationId xmlns:a16="http://schemas.microsoft.com/office/drawing/2014/main" id="{C09FB6BA-9268-1507-40CF-00DDF8E081C9}"/>
              </a:ext>
            </a:extLst>
          </p:cNvPr>
          <p:cNvSpPr/>
          <p:nvPr/>
        </p:nvSpPr>
        <p:spPr>
          <a:xfrm>
            <a:off x="1505243" y="1758460"/>
            <a:ext cx="9777045" cy="211018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4EE27215-8A39-6D68-CD7D-B9F075A35CBE}"/>
              </a:ext>
            </a:extLst>
          </p:cNvPr>
          <p:cNvSpPr txBox="1">
            <a:spLocks/>
          </p:cNvSpPr>
          <p:nvPr/>
        </p:nvSpPr>
        <p:spPr>
          <a:xfrm>
            <a:off x="1203396" y="940198"/>
            <a:ext cx="9000055" cy="990145"/>
          </a:xfrm>
          <a:prstGeom prst="rect">
            <a:avLst/>
          </a:prstGeom>
        </p:spPr>
        <p:txBody>
          <a:bodyPr lIns="91440" tIns="45720" rIns="91440" bIns="45720" anchor="b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i="0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r" rtl="1">
              <a:lnSpc>
                <a:spcPct val="107000"/>
              </a:lnSpc>
              <a:buFont typeface="+mj-lt"/>
              <a:buAutoNum type="arabicPeriod"/>
            </a:pPr>
            <a:endParaRPr lang="he-IL" sz="18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07000"/>
              </a:lnSpc>
              <a:buFont typeface="+mj-lt"/>
              <a:buAutoNum type="arabicPeriod"/>
            </a:pP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תיאור: מביאה את איזה חודש/חודשים בשנה הכי הרבה מגיעים כדי לתגבר עובדים לזמן זה.</a:t>
            </a:r>
            <a:b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he-IL" sz="1400" dirty="0"/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5BA276C1-51EC-8403-69F9-D7941C76AE68}"/>
              </a:ext>
            </a:extLst>
          </p:cNvPr>
          <p:cNvSpPr txBox="1">
            <a:spLocks/>
          </p:cNvSpPr>
          <p:nvPr/>
        </p:nvSpPr>
        <p:spPr>
          <a:xfrm>
            <a:off x="2560232" y="57828"/>
            <a:ext cx="7071536" cy="906272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he-IL" sz="4000" dirty="0">
                <a:cs typeface="+mn-cs"/>
              </a:rPr>
              <a:t>שאילתות</a:t>
            </a:r>
          </a:p>
        </p:txBody>
      </p:sp>
      <p:pic>
        <p:nvPicPr>
          <p:cNvPr id="4" name="תמונה 3" descr="תמונה שמכילה טקסט, צילום מסך, תוכנה, תצוגה&#10;&#10;התיאור נוצר באופן אוטומטי">
            <a:extLst>
              <a:ext uri="{FF2B5EF4-FFF2-40B4-BE49-F238E27FC236}">
                <a16:creationId xmlns:a16="http://schemas.microsoft.com/office/drawing/2014/main" id="{0E2E8FA7-0CBA-9D1E-DE7A-D349860DB88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85" t="41562" r="36072" b="31423"/>
          <a:stretch/>
        </p:blipFill>
        <p:spPr>
          <a:xfrm>
            <a:off x="1389462" y="2359577"/>
            <a:ext cx="5521308" cy="2025487"/>
          </a:xfrm>
          <a:prstGeom prst="rect">
            <a:avLst/>
          </a:prstGeom>
        </p:spPr>
      </p:pic>
      <p:pic>
        <p:nvPicPr>
          <p:cNvPr id="5" name="תמונה 4" descr="תמונה שמכילה טקסט, צילום מסך, תוכנה, תצוגה&#10;&#10;התיאור נוצר באופן אוטומטי">
            <a:extLst>
              <a:ext uri="{FF2B5EF4-FFF2-40B4-BE49-F238E27FC236}">
                <a16:creationId xmlns:a16="http://schemas.microsoft.com/office/drawing/2014/main" id="{F70D29A3-A7FC-E07F-6E6B-727123C1B7A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18" t="65202" r="70596" b="26095"/>
          <a:stretch/>
        </p:blipFill>
        <p:spPr>
          <a:xfrm>
            <a:off x="1389462" y="5296939"/>
            <a:ext cx="2102340" cy="1049381"/>
          </a:xfrm>
          <a:prstGeom prst="rect">
            <a:avLst/>
          </a:prstGeom>
        </p:spPr>
      </p:pic>
      <p:sp>
        <p:nvSpPr>
          <p:cNvPr id="6" name="Google Shape;132;p17">
            <a:extLst>
              <a:ext uri="{FF2B5EF4-FFF2-40B4-BE49-F238E27FC236}">
                <a16:creationId xmlns:a16="http://schemas.microsoft.com/office/drawing/2014/main" id="{916E8AFC-6BB8-D788-B7BC-EA5597EF6503}"/>
              </a:ext>
            </a:extLst>
          </p:cNvPr>
          <p:cNvSpPr/>
          <p:nvPr/>
        </p:nvSpPr>
        <p:spPr>
          <a:xfrm>
            <a:off x="10203451" y="251530"/>
            <a:ext cx="1673418" cy="559074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he-IL" dirty="0">
                <a:solidFill>
                  <a:schemeClr val="lt1"/>
                </a:solidFill>
                <a:latin typeface="Gill Sans"/>
                <a:sym typeface="Gill Sans"/>
              </a:rPr>
              <a:t>מזכיר</a:t>
            </a:r>
          </a:p>
        </p:txBody>
      </p:sp>
    </p:spTree>
    <p:extLst>
      <p:ext uri="{BB962C8B-B14F-4D97-AF65-F5344CB8AC3E}">
        <p14:creationId xmlns:p14="http://schemas.microsoft.com/office/powerpoint/2010/main" val="3660766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סימן חיסור 7">
            <a:extLst>
              <a:ext uri="{FF2B5EF4-FFF2-40B4-BE49-F238E27FC236}">
                <a16:creationId xmlns:a16="http://schemas.microsoft.com/office/drawing/2014/main" id="{C09FB6BA-9268-1507-40CF-00DDF8E081C9}"/>
              </a:ext>
            </a:extLst>
          </p:cNvPr>
          <p:cNvSpPr/>
          <p:nvPr/>
        </p:nvSpPr>
        <p:spPr>
          <a:xfrm>
            <a:off x="1505243" y="1758460"/>
            <a:ext cx="9777045" cy="211018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כותרת 1">
            <a:extLst>
              <a:ext uri="{FF2B5EF4-FFF2-40B4-BE49-F238E27FC236}">
                <a16:creationId xmlns:a16="http://schemas.microsoft.com/office/drawing/2014/main" id="{EBACF590-90D8-1B4F-5CCE-A922DA9AE344}"/>
              </a:ext>
            </a:extLst>
          </p:cNvPr>
          <p:cNvSpPr txBox="1">
            <a:spLocks/>
          </p:cNvSpPr>
          <p:nvPr/>
        </p:nvSpPr>
        <p:spPr>
          <a:xfrm>
            <a:off x="1203395" y="950298"/>
            <a:ext cx="9000055" cy="990145"/>
          </a:xfrm>
          <a:prstGeom prst="rect">
            <a:avLst/>
          </a:prstGeom>
        </p:spPr>
        <p:txBody>
          <a:bodyPr lIns="91440" tIns="45720" rIns="91440" bIns="45720" anchor="b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i="0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>
              <a:lnSpc>
                <a:spcPct val="107000"/>
              </a:lnSpc>
            </a:pP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שמות המתקנים שעלו עליהם יותר מ 10000 בשנה.</a:t>
            </a:r>
            <a:b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he-IL" sz="1400" dirty="0"/>
          </a:p>
        </p:txBody>
      </p:sp>
      <p:sp>
        <p:nvSpPr>
          <p:cNvPr id="2" name="Google Shape;132;p17">
            <a:extLst>
              <a:ext uri="{FF2B5EF4-FFF2-40B4-BE49-F238E27FC236}">
                <a16:creationId xmlns:a16="http://schemas.microsoft.com/office/drawing/2014/main" id="{242DE436-BDC9-1333-1E95-992054E99486}"/>
              </a:ext>
            </a:extLst>
          </p:cNvPr>
          <p:cNvSpPr/>
          <p:nvPr/>
        </p:nvSpPr>
        <p:spPr>
          <a:xfrm>
            <a:off x="10203451" y="251530"/>
            <a:ext cx="1673418" cy="559074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he-IL" dirty="0">
                <a:solidFill>
                  <a:schemeClr val="lt1"/>
                </a:solidFill>
                <a:latin typeface="Gill Sans"/>
                <a:sym typeface="Gill Sans"/>
              </a:rPr>
              <a:t>מנהל</a:t>
            </a: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445DB85E-2A9B-E21F-9C44-BE62CC16F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220" y="2399868"/>
            <a:ext cx="5899273" cy="2058263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B39C8532-1DBE-D914-1FF2-1B39E251A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220" y="4888521"/>
            <a:ext cx="2213158" cy="82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626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סימן חיסור 7">
            <a:extLst>
              <a:ext uri="{FF2B5EF4-FFF2-40B4-BE49-F238E27FC236}">
                <a16:creationId xmlns:a16="http://schemas.microsoft.com/office/drawing/2014/main" id="{C09FB6BA-9268-1507-40CF-00DDF8E081C9}"/>
              </a:ext>
            </a:extLst>
          </p:cNvPr>
          <p:cNvSpPr/>
          <p:nvPr/>
        </p:nvSpPr>
        <p:spPr>
          <a:xfrm>
            <a:off x="1505243" y="1758460"/>
            <a:ext cx="9777045" cy="211018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כותרת 1">
            <a:extLst>
              <a:ext uri="{FF2B5EF4-FFF2-40B4-BE49-F238E27FC236}">
                <a16:creationId xmlns:a16="http://schemas.microsoft.com/office/drawing/2014/main" id="{039BB7B5-E15C-1D88-0374-2FC224B22C43}"/>
              </a:ext>
            </a:extLst>
          </p:cNvPr>
          <p:cNvSpPr txBox="1">
            <a:spLocks/>
          </p:cNvSpPr>
          <p:nvPr/>
        </p:nvSpPr>
        <p:spPr>
          <a:xfrm>
            <a:off x="1203395" y="1264042"/>
            <a:ext cx="9000055" cy="455283"/>
          </a:xfrm>
          <a:prstGeom prst="rect">
            <a:avLst/>
          </a:prstGeom>
        </p:spPr>
        <p:txBody>
          <a:bodyPr lIns="91440" tIns="45720" rIns="91440" bIns="45720" anchor="b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i="0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r" rtl="1">
              <a:lnSpc>
                <a:spcPct val="107000"/>
              </a:lnSpc>
            </a:pP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העיר שיש בה הכי הרבה לקוחות כדי לדעת באיזה עיר הכי משתלם לפתוח עוד סניף.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2D254C0D-EA6B-05DE-14A5-8CA8F4F9962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62" t="22257" r="28953" b="55091"/>
          <a:stretch/>
        </p:blipFill>
        <p:spPr>
          <a:xfrm>
            <a:off x="1389462" y="2359577"/>
            <a:ext cx="6206018" cy="1624619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C6E0D52D-9615-EE71-BB80-B0372BC42F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31" t="60851" r="70548" b="30927"/>
          <a:stretch/>
        </p:blipFill>
        <p:spPr>
          <a:xfrm>
            <a:off x="1389463" y="4844097"/>
            <a:ext cx="2183731" cy="994370"/>
          </a:xfrm>
          <a:prstGeom prst="rect">
            <a:avLst/>
          </a:prstGeom>
        </p:spPr>
      </p:pic>
      <p:sp>
        <p:nvSpPr>
          <p:cNvPr id="2" name="Google Shape;132;p17">
            <a:extLst>
              <a:ext uri="{FF2B5EF4-FFF2-40B4-BE49-F238E27FC236}">
                <a16:creationId xmlns:a16="http://schemas.microsoft.com/office/drawing/2014/main" id="{9C8FF51E-E69A-2C76-ED02-6BDE4D2155E9}"/>
              </a:ext>
            </a:extLst>
          </p:cNvPr>
          <p:cNvSpPr/>
          <p:nvPr/>
        </p:nvSpPr>
        <p:spPr>
          <a:xfrm>
            <a:off x="10203451" y="251530"/>
            <a:ext cx="1673418" cy="559074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he-IL" dirty="0">
                <a:solidFill>
                  <a:schemeClr val="lt1"/>
                </a:solidFill>
                <a:latin typeface="Gill Sans"/>
                <a:sym typeface="Gill Sans"/>
              </a:rPr>
              <a:t>מנהל</a:t>
            </a:r>
          </a:p>
        </p:txBody>
      </p:sp>
    </p:spTree>
    <p:extLst>
      <p:ext uri="{BB962C8B-B14F-4D97-AF65-F5344CB8AC3E}">
        <p14:creationId xmlns:p14="http://schemas.microsoft.com/office/powerpoint/2010/main" val="3656042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סימן חיסור 7">
            <a:extLst>
              <a:ext uri="{FF2B5EF4-FFF2-40B4-BE49-F238E27FC236}">
                <a16:creationId xmlns:a16="http://schemas.microsoft.com/office/drawing/2014/main" id="{C09FB6BA-9268-1507-40CF-00DDF8E081C9}"/>
              </a:ext>
            </a:extLst>
          </p:cNvPr>
          <p:cNvSpPr/>
          <p:nvPr/>
        </p:nvSpPr>
        <p:spPr>
          <a:xfrm>
            <a:off x="1505243" y="1758460"/>
            <a:ext cx="9777045" cy="211018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כותרת 1">
            <a:extLst>
              <a:ext uri="{FF2B5EF4-FFF2-40B4-BE49-F238E27FC236}">
                <a16:creationId xmlns:a16="http://schemas.microsoft.com/office/drawing/2014/main" id="{4925F3ED-1D29-5F68-3E98-292230715781}"/>
              </a:ext>
            </a:extLst>
          </p:cNvPr>
          <p:cNvSpPr txBox="1">
            <a:spLocks/>
          </p:cNvSpPr>
          <p:nvPr/>
        </p:nvSpPr>
        <p:spPr>
          <a:xfrm>
            <a:off x="1175261" y="952026"/>
            <a:ext cx="9000055" cy="990145"/>
          </a:xfrm>
          <a:prstGeom prst="rect">
            <a:avLst/>
          </a:prstGeom>
        </p:spPr>
        <p:txBody>
          <a:bodyPr lIns="91440" tIns="45720" rIns="91440" bIns="45720" anchor="b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i="0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r" rtl="1">
              <a:lnSpc>
                <a:spcPct val="107000"/>
              </a:lnSpc>
              <a:buFont typeface="+mj-lt"/>
              <a:buAutoNum type="arabicPeriod"/>
            </a:pPr>
            <a:endParaRPr lang="he-IL" sz="18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r" rtl="1">
              <a:lnSpc>
                <a:spcPct val="107000"/>
              </a:lnSpc>
            </a:pP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תיאור: טבלה מדומה שמחשבת את </a:t>
            </a: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+mn-cs"/>
              </a:rPr>
              <a:t>הכנסות</a:t>
            </a: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עבור כל מתקן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b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he-IL" sz="1400" dirty="0"/>
          </a:p>
        </p:txBody>
      </p:sp>
      <p:sp>
        <p:nvSpPr>
          <p:cNvPr id="7" name="כותרת 1">
            <a:extLst>
              <a:ext uri="{FF2B5EF4-FFF2-40B4-BE49-F238E27FC236}">
                <a16:creationId xmlns:a16="http://schemas.microsoft.com/office/drawing/2014/main" id="{F4EBC16C-7D3D-2FBC-EC1D-47700408A894}"/>
              </a:ext>
            </a:extLst>
          </p:cNvPr>
          <p:cNvSpPr txBox="1">
            <a:spLocks/>
          </p:cNvSpPr>
          <p:nvPr/>
        </p:nvSpPr>
        <p:spPr>
          <a:xfrm>
            <a:off x="2474152" y="452888"/>
            <a:ext cx="7071536" cy="551308"/>
          </a:xfrm>
          <a:prstGeom prst="rect">
            <a:avLst/>
          </a:prstGeom>
        </p:spPr>
        <p:txBody>
          <a:bodyPr vert="horz" lIns="91440" tIns="45720" rIns="91440" bIns="0" rtlCol="0" anchor="b">
            <a:normAutofit lnSpcReduction="10000"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he-IL" sz="4000" dirty="0">
                <a:cs typeface="+mn-cs"/>
              </a:rPr>
              <a:t>טבלאות מדומות</a:t>
            </a: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3DA6478A-F6AB-132E-AEBB-82195FC35E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103" y="2389139"/>
            <a:ext cx="9202434" cy="2019582"/>
          </a:xfrm>
          <a:prstGeom prst="rect">
            <a:avLst/>
          </a:prstGeom>
        </p:spPr>
      </p:pic>
      <p:pic>
        <p:nvPicPr>
          <p:cNvPr id="10" name="תמונה 9" descr="תמונה שמכילה טקסט, חשמל, צילום מסך, תוכנה&#10;&#10;התיאור נוצר באופן אוטומטי">
            <a:extLst>
              <a:ext uri="{FF2B5EF4-FFF2-40B4-BE49-F238E27FC236}">
                <a16:creationId xmlns:a16="http://schemas.microsoft.com/office/drawing/2014/main" id="{1E9C6508-D97F-249F-2CFF-55188648570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31" t="61198" r="65615" b="27656"/>
          <a:stretch/>
        </p:blipFill>
        <p:spPr>
          <a:xfrm>
            <a:off x="1354103" y="5289017"/>
            <a:ext cx="3013600" cy="1233914"/>
          </a:xfrm>
          <a:prstGeom prst="rect">
            <a:avLst/>
          </a:prstGeom>
        </p:spPr>
      </p:pic>
      <p:sp>
        <p:nvSpPr>
          <p:cNvPr id="2" name="Google Shape;132;p17">
            <a:extLst>
              <a:ext uri="{FF2B5EF4-FFF2-40B4-BE49-F238E27FC236}">
                <a16:creationId xmlns:a16="http://schemas.microsoft.com/office/drawing/2014/main" id="{5732F597-6BE8-A87C-074F-59E6CF86D8F3}"/>
              </a:ext>
            </a:extLst>
          </p:cNvPr>
          <p:cNvSpPr/>
          <p:nvPr/>
        </p:nvSpPr>
        <p:spPr>
          <a:xfrm>
            <a:off x="10203451" y="251530"/>
            <a:ext cx="1673418" cy="559074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he-IL" dirty="0">
                <a:solidFill>
                  <a:schemeClr val="lt1"/>
                </a:solidFill>
                <a:latin typeface="Gill Sans"/>
                <a:sym typeface="Gill Sans"/>
              </a:rPr>
              <a:t>מנהל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31037888-9F15-8C01-893B-4F995892A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9921" y="5323498"/>
            <a:ext cx="4441770" cy="1079129"/>
          </a:xfrm>
          <a:prstGeom prst="rect">
            <a:avLst/>
          </a:prstGeom>
        </p:spPr>
      </p:pic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9B650664-4C5A-B53B-21BB-ED60EB066E6D}"/>
              </a:ext>
            </a:extLst>
          </p:cNvPr>
          <p:cNvSpPr txBox="1"/>
          <p:nvPr/>
        </p:nvSpPr>
        <p:spPr>
          <a:xfrm>
            <a:off x="4704025" y="4527145"/>
            <a:ext cx="6100916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lnSpc>
                <a:spcPct val="107000"/>
              </a:lnSpc>
            </a:pP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תיאור: טבלה מדומה שמביאה עבור כל עוב</a:t>
            </a:r>
            <a:r>
              <a:rPr lang="he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ד מספר </a:t>
            </a:r>
            <a:r>
              <a:rPr lang="he-IL" kern="1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מרונדם</a:t>
            </a:r>
            <a:r>
              <a:rPr lang="he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he-IL" sz="1400" dirty="0"/>
          </a:p>
        </p:txBody>
      </p:sp>
    </p:spTree>
    <p:extLst>
      <p:ext uri="{BB962C8B-B14F-4D97-AF65-F5344CB8AC3E}">
        <p14:creationId xmlns:p14="http://schemas.microsoft.com/office/powerpoint/2010/main" val="2618385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סימן חיסור 7">
            <a:extLst>
              <a:ext uri="{FF2B5EF4-FFF2-40B4-BE49-F238E27FC236}">
                <a16:creationId xmlns:a16="http://schemas.microsoft.com/office/drawing/2014/main" id="{C09FB6BA-9268-1507-40CF-00DDF8E081C9}"/>
              </a:ext>
            </a:extLst>
          </p:cNvPr>
          <p:cNvSpPr/>
          <p:nvPr/>
        </p:nvSpPr>
        <p:spPr>
          <a:xfrm>
            <a:off x="1505243" y="1758460"/>
            <a:ext cx="9777045" cy="211018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4EE27215-8A39-6D68-CD7D-B9F075A35CBE}"/>
              </a:ext>
            </a:extLst>
          </p:cNvPr>
          <p:cNvSpPr txBox="1">
            <a:spLocks/>
          </p:cNvSpPr>
          <p:nvPr/>
        </p:nvSpPr>
        <p:spPr>
          <a:xfrm>
            <a:off x="1505243" y="940198"/>
            <a:ext cx="8698208" cy="990145"/>
          </a:xfrm>
          <a:prstGeom prst="rect">
            <a:avLst/>
          </a:prstGeom>
        </p:spPr>
        <p:txBody>
          <a:bodyPr lIns="91440" tIns="45720" rIns="91440" bIns="4572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i="0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r" rtl="1">
              <a:lnSpc>
                <a:spcPct val="107000"/>
              </a:lnSpc>
              <a:buFont typeface="+mj-lt"/>
              <a:buAutoNum type="arabicPeriod"/>
            </a:pPr>
            <a:endParaRPr lang="he-IL" sz="18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r" rtl="1">
              <a:lnSpc>
                <a:spcPct val="107000"/>
              </a:lnSpc>
            </a:pP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תיאור: הפרוצדורה נעזרת בפונקציה 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empNotWork</a:t>
            </a: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שמקבלת מספר עובד ומחזירה את מספר הימים שלא עבד.</a:t>
            </a:r>
          </a:p>
          <a:p>
            <a:pPr lvl="0" algn="r" rtl="1">
              <a:lnSpc>
                <a:spcPct val="107000"/>
              </a:lnSpc>
            </a:pP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הפרוצדורה מוחקת את העובד שלא עבד שנה או יותר.</a:t>
            </a:r>
            <a:b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he-IL" sz="1400" dirty="0"/>
          </a:p>
        </p:txBody>
      </p:sp>
      <p:sp>
        <p:nvSpPr>
          <p:cNvPr id="6" name="כותרת 1">
            <a:extLst>
              <a:ext uri="{FF2B5EF4-FFF2-40B4-BE49-F238E27FC236}">
                <a16:creationId xmlns:a16="http://schemas.microsoft.com/office/drawing/2014/main" id="{4CCFBC74-792F-4FDD-8672-EE8C3A6280CE}"/>
              </a:ext>
            </a:extLst>
          </p:cNvPr>
          <p:cNvSpPr txBox="1">
            <a:spLocks/>
          </p:cNvSpPr>
          <p:nvPr/>
        </p:nvSpPr>
        <p:spPr>
          <a:xfrm>
            <a:off x="2560232" y="57828"/>
            <a:ext cx="7071536" cy="906272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he-IL" sz="4000" dirty="0">
                <a:cs typeface="+mn-cs"/>
              </a:rPr>
              <a:t>פרוצדורות</a:t>
            </a:r>
          </a:p>
        </p:txBody>
      </p:sp>
      <p:sp>
        <p:nvSpPr>
          <p:cNvPr id="4" name="Google Shape;132;p17">
            <a:extLst>
              <a:ext uri="{FF2B5EF4-FFF2-40B4-BE49-F238E27FC236}">
                <a16:creationId xmlns:a16="http://schemas.microsoft.com/office/drawing/2014/main" id="{DAD64131-523C-5D30-7D7F-6A9BD444BBFA}"/>
              </a:ext>
            </a:extLst>
          </p:cNvPr>
          <p:cNvSpPr/>
          <p:nvPr/>
        </p:nvSpPr>
        <p:spPr>
          <a:xfrm>
            <a:off x="10203451" y="251530"/>
            <a:ext cx="1673418" cy="559074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he-IL" dirty="0">
                <a:solidFill>
                  <a:schemeClr val="lt1"/>
                </a:solidFill>
                <a:latin typeface="Gill Sans"/>
                <a:sym typeface="Gill Sans"/>
              </a:rPr>
              <a:t>מזכיר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DF051294-BC35-EEF9-C656-1E87F900B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654" y="2298236"/>
            <a:ext cx="5661385" cy="434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439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9C2C3B6-4547-D6E0-AD0B-025C2D8B9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3600" dirty="0"/>
              <a:t>ההרצה של הפרוצדורה: 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303D036E-3F09-F6AC-3881-0F884987C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2" y="2498751"/>
            <a:ext cx="4823382" cy="2846972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EE9B05EF-D60F-4FA6-C4AD-CC65CB88A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427" y="2498751"/>
            <a:ext cx="6467475" cy="1533525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F094C363-C666-BA42-2F23-0D742812D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427" y="4150431"/>
            <a:ext cx="6619875" cy="1409700"/>
          </a:xfrm>
          <a:prstGeom prst="rect">
            <a:avLst/>
          </a:prstGeom>
        </p:spPr>
      </p:pic>
      <p:sp>
        <p:nvSpPr>
          <p:cNvPr id="8" name="מלבן 7">
            <a:extLst>
              <a:ext uri="{FF2B5EF4-FFF2-40B4-BE49-F238E27FC236}">
                <a16:creationId xmlns:a16="http://schemas.microsoft.com/office/drawing/2014/main" id="{0DCEF3F7-2FCB-67FC-FF17-C92ED925D95B}"/>
              </a:ext>
            </a:extLst>
          </p:cNvPr>
          <p:cNvSpPr/>
          <p:nvPr/>
        </p:nvSpPr>
        <p:spPr>
          <a:xfrm>
            <a:off x="129392" y="3609954"/>
            <a:ext cx="4770853" cy="18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117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סימן חיסור 7">
            <a:extLst>
              <a:ext uri="{FF2B5EF4-FFF2-40B4-BE49-F238E27FC236}">
                <a16:creationId xmlns:a16="http://schemas.microsoft.com/office/drawing/2014/main" id="{C09FB6BA-9268-1507-40CF-00DDF8E081C9}"/>
              </a:ext>
            </a:extLst>
          </p:cNvPr>
          <p:cNvSpPr/>
          <p:nvPr/>
        </p:nvSpPr>
        <p:spPr>
          <a:xfrm>
            <a:off x="1505243" y="1758460"/>
            <a:ext cx="9777045" cy="211018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4EE27215-8A39-6D68-CD7D-B9F075A35CBE}"/>
              </a:ext>
            </a:extLst>
          </p:cNvPr>
          <p:cNvSpPr txBox="1">
            <a:spLocks/>
          </p:cNvSpPr>
          <p:nvPr/>
        </p:nvSpPr>
        <p:spPr>
          <a:xfrm>
            <a:off x="1505243" y="940198"/>
            <a:ext cx="8698208" cy="990145"/>
          </a:xfrm>
          <a:prstGeom prst="rect">
            <a:avLst/>
          </a:prstGeom>
        </p:spPr>
        <p:txBody>
          <a:bodyPr lIns="91440" tIns="45720" rIns="91440" bIns="4572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i="0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r" rtl="1">
              <a:lnSpc>
                <a:spcPct val="107000"/>
              </a:lnSpc>
              <a:buFont typeface="+mj-lt"/>
              <a:buAutoNum type="arabicPeriod"/>
            </a:pPr>
            <a:endParaRPr lang="he-IL" sz="18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r" rtl="1">
              <a:lnSpc>
                <a:spcPct val="107000"/>
              </a:lnSpc>
            </a:pP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תיאור: מפחיתה את משך הפעלת מתקן שזמן ההמתנה בו עולה על שעה בתנאי שהוא מופעל יותר משתי דקות.</a:t>
            </a:r>
            <a:b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he-IL" sz="1400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C5FD68ED-FACF-1116-8B3F-65885FD93B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84" t="53484" r="7462" b="16296"/>
          <a:stretch/>
        </p:blipFill>
        <p:spPr>
          <a:xfrm>
            <a:off x="2025944" y="2787740"/>
            <a:ext cx="8140111" cy="1583113"/>
          </a:xfrm>
          <a:prstGeom prst="rect">
            <a:avLst/>
          </a:prstGeom>
        </p:spPr>
      </p:pic>
      <p:sp>
        <p:nvSpPr>
          <p:cNvPr id="3" name="Google Shape;132;p17">
            <a:extLst>
              <a:ext uri="{FF2B5EF4-FFF2-40B4-BE49-F238E27FC236}">
                <a16:creationId xmlns:a16="http://schemas.microsoft.com/office/drawing/2014/main" id="{EF39BD96-BC79-03D3-7007-A83CE0F529DF}"/>
              </a:ext>
            </a:extLst>
          </p:cNvPr>
          <p:cNvSpPr/>
          <p:nvPr/>
        </p:nvSpPr>
        <p:spPr>
          <a:xfrm>
            <a:off x="10203451" y="251530"/>
            <a:ext cx="1673418" cy="559074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he-IL" dirty="0">
                <a:solidFill>
                  <a:schemeClr val="lt1"/>
                </a:solidFill>
                <a:latin typeface="Gill Sans"/>
                <a:sym typeface="Gill Sans"/>
              </a:rPr>
              <a:t>מזכיר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201D79FE-A11C-30FB-EEC3-D993CF404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944" y="4906189"/>
            <a:ext cx="3774064" cy="1410865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5B1D0B8A-F93A-DD9C-B3CC-F03C1C0DF9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8798" y="4906189"/>
            <a:ext cx="3591293" cy="141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541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סימן חיסור 7">
            <a:extLst>
              <a:ext uri="{FF2B5EF4-FFF2-40B4-BE49-F238E27FC236}">
                <a16:creationId xmlns:a16="http://schemas.microsoft.com/office/drawing/2014/main" id="{C09FB6BA-9268-1507-40CF-00DDF8E081C9}"/>
              </a:ext>
            </a:extLst>
          </p:cNvPr>
          <p:cNvSpPr/>
          <p:nvPr/>
        </p:nvSpPr>
        <p:spPr>
          <a:xfrm>
            <a:off x="1505243" y="1758460"/>
            <a:ext cx="9777045" cy="211018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4EE27215-8A39-6D68-CD7D-B9F075A35CBE}"/>
              </a:ext>
            </a:extLst>
          </p:cNvPr>
          <p:cNvSpPr txBox="1">
            <a:spLocks/>
          </p:cNvSpPr>
          <p:nvPr/>
        </p:nvSpPr>
        <p:spPr>
          <a:xfrm>
            <a:off x="1505243" y="940198"/>
            <a:ext cx="8698208" cy="990145"/>
          </a:xfrm>
          <a:prstGeom prst="rect">
            <a:avLst/>
          </a:prstGeom>
        </p:spPr>
        <p:txBody>
          <a:bodyPr lIns="91440" tIns="45720" rIns="91440" bIns="45720" anchor="b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i="0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r" rtl="1">
              <a:lnSpc>
                <a:spcPct val="107000"/>
              </a:lnSpc>
              <a:buFont typeface="+mj-lt"/>
              <a:buAutoNum type="arabicPeriod"/>
            </a:pPr>
            <a:endParaRPr lang="he-IL" sz="18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r" rtl="1">
              <a:lnSpc>
                <a:spcPct val="107000"/>
              </a:lnSpc>
            </a:pP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תיאור: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מקבלת קוד אחראי עובדים ומראה מיהם העובדים תחתיו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b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he-IL" sz="1400" dirty="0"/>
          </a:p>
        </p:txBody>
      </p:sp>
      <p:pic>
        <p:nvPicPr>
          <p:cNvPr id="7" name="תמונה 6" descr="תמונה שמכילה טקסט, חשמל, צילום מסך, תצוגה&#10;&#10;התיאור נוצר באופן אוטומטי">
            <a:extLst>
              <a:ext uri="{FF2B5EF4-FFF2-40B4-BE49-F238E27FC236}">
                <a16:creationId xmlns:a16="http://schemas.microsoft.com/office/drawing/2014/main" id="{7782F0B6-36BD-A6D1-7D0C-141B1BE879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654" t="20261" r="15077" b="19726"/>
          <a:stretch/>
        </p:blipFill>
        <p:spPr>
          <a:xfrm>
            <a:off x="2813602" y="1991056"/>
            <a:ext cx="7160325" cy="3599445"/>
          </a:xfrm>
          <a:prstGeom prst="rect">
            <a:avLst/>
          </a:prstGeom>
        </p:spPr>
      </p:pic>
      <p:sp>
        <p:nvSpPr>
          <p:cNvPr id="3" name="Google Shape;132;p17">
            <a:extLst>
              <a:ext uri="{FF2B5EF4-FFF2-40B4-BE49-F238E27FC236}">
                <a16:creationId xmlns:a16="http://schemas.microsoft.com/office/drawing/2014/main" id="{AA3CF0B4-A575-0745-99C4-8F416E9AA3C0}"/>
              </a:ext>
            </a:extLst>
          </p:cNvPr>
          <p:cNvSpPr/>
          <p:nvPr/>
        </p:nvSpPr>
        <p:spPr>
          <a:xfrm>
            <a:off x="10203451" y="251530"/>
            <a:ext cx="1673418" cy="559074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he-IL" dirty="0">
                <a:solidFill>
                  <a:schemeClr val="lt1"/>
                </a:solidFill>
                <a:latin typeface="Gill Sans"/>
                <a:sym typeface="Gill Sans"/>
              </a:rPr>
              <a:t>מנהל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69E980A5-79AB-1F5A-24FF-8003FC014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601" y="5817700"/>
            <a:ext cx="2333625" cy="419100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952282DA-60C8-707F-9725-FA1177E67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3601" y="6463999"/>
            <a:ext cx="2352675" cy="238125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45918D7E-DF7E-6F3E-5A4A-F67AF38946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4347" y="5817700"/>
            <a:ext cx="2028825" cy="438150"/>
          </a:xfrm>
          <a:prstGeom prst="rect">
            <a:avLst/>
          </a:prstGeom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2F669BC9-4DC5-DACF-1217-1DD455905E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227" y="5835349"/>
            <a:ext cx="1790700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354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סימן חיסור 7">
            <a:extLst>
              <a:ext uri="{FF2B5EF4-FFF2-40B4-BE49-F238E27FC236}">
                <a16:creationId xmlns:a16="http://schemas.microsoft.com/office/drawing/2014/main" id="{C09FB6BA-9268-1507-40CF-00DDF8E081C9}"/>
              </a:ext>
            </a:extLst>
          </p:cNvPr>
          <p:cNvSpPr/>
          <p:nvPr/>
        </p:nvSpPr>
        <p:spPr>
          <a:xfrm>
            <a:off x="1505243" y="1758460"/>
            <a:ext cx="9777045" cy="211018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4EE27215-8A39-6D68-CD7D-B9F075A35CBE}"/>
              </a:ext>
            </a:extLst>
          </p:cNvPr>
          <p:cNvSpPr txBox="1">
            <a:spLocks/>
          </p:cNvSpPr>
          <p:nvPr/>
        </p:nvSpPr>
        <p:spPr>
          <a:xfrm>
            <a:off x="1167618" y="940198"/>
            <a:ext cx="9035833" cy="990145"/>
          </a:xfrm>
          <a:prstGeom prst="rect">
            <a:avLst/>
          </a:prstGeom>
        </p:spPr>
        <p:txBody>
          <a:bodyPr lIns="91440" tIns="45720" rIns="91440" bIns="45720" anchor="b">
            <a:normAutofit fontScale="92500"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i="0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r" rtl="1">
              <a:lnSpc>
                <a:spcPct val="107000"/>
              </a:lnSpc>
              <a:buFont typeface="+mj-lt"/>
              <a:buAutoNum type="arabicPeriod"/>
            </a:pPr>
            <a:endParaRPr lang="he-IL" sz="18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r" rtl="1">
              <a:lnSpc>
                <a:spcPct val="107000"/>
              </a:lnSpc>
            </a:pP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4. תיאור: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מקבלת שנה ומראה באיזה תאריך הופיעו הכי הרבה מבקרים ומה הייתה הפעילות באותו היום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b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he-IL" sz="1400" dirty="0"/>
          </a:p>
        </p:txBody>
      </p:sp>
      <p:sp>
        <p:nvSpPr>
          <p:cNvPr id="3" name="Google Shape;132;p17">
            <a:extLst>
              <a:ext uri="{FF2B5EF4-FFF2-40B4-BE49-F238E27FC236}">
                <a16:creationId xmlns:a16="http://schemas.microsoft.com/office/drawing/2014/main" id="{1C9404D4-F8B3-7DBE-2266-7BD92FC0EFCB}"/>
              </a:ext>
            </a:extLst>
          </p:cNvPr>
          <p:cNvSpPr/>
          <p:nvPr/>
        </p:nvSpPr>
        <p:spPr>
          <a:xfrm>
            <a:off x="10203451" y="251530"/>
            <a:ext cx="1673418" cy="559074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he-IL" dirty="0">
                <a:solidFill>
                  <a:schemeClr val="lt1"/>
                </a:solidFill>
                <a:latin typeface="Gill Sans"/>
                <a:sym typeface="Gill Sans"/>
              </a:rPr>
              <a:t>מזכיר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FF8B515D-4A8F-AC9D-0D8E-EB8DC9A4E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243" y="2483314"/>
            <a:ext cx="8955532" cy="1891372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F3A69F5E-08CB-AE3A-092F-DBDBA2EAD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243" y="4680909"/>
            <a:ext cx="2349305" cy="207613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A53930DB-EBD5-7231-107B-55D0D411F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857" y="4645881"/>
            <a:ext cx="2116843" cy="55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119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סימן חיסור 7">
            <a:extLst>
              <a:ext uri="{FF2B5EF4-FFF2-40B4-BE49-F238E27FC236}">
                <a16:creationId xmlns:a16="http://schemas.microsoft.com/office/drawing/2014/main" id="{C09FB6BA-9268-1507-40CF-00DDF8E081C9}"/>
              </a:ext>
            </a:extLst>
          </p:cNvPr>
          <p:cNvSpPr/>
          <p:nvPr/>
        </p:nvSpPr>
        <p:spPr>
          <a:xfrm>
            <a:off x="1505243" y="1758460"/>
            <a:ext cx="9777045" cy="211018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4EE27215-8A39-6D68-CD7D-B9F075A35CBE}"/>
              </a:ext>
            </a:extLst>
          </p:cNvPr>
          <p:cNvSpPr txBox="1">
            <a:spLocks/>
          </p:cNvSpPr>
          <p:nvPr/>
        </p:nvSpPr>
        <p:spPr>
          <a:xfrm>
            <a:off x="1097280" y="768315"/>
            <a:ext cx="9035833" cy="990145"/>
          </a:xfrm>
          <a:prstGeom prst="rect">
            <a:avLst/>
          </a:prstGeom>
        </p:spPr>
        <p:txBody>
          <a:bodyPr lIns="91440" tIns="45720" rIns="91440" bIns="4572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i="0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r" rtl="1">
              <a:lnSpc>
                <a:spcPct val="107000"/>
              </a:lnSpc>
            </a:pPr>
            <a:endParaRPr lang="he-IL" sz="18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r" rtl="1">
              <a:lnSpc>
                <a:spcPct val="107000"/>
              </a:lnSpc>
            </a:pP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4. תיאור: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פרוצדורה זו נעזרת בפונקציה 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empCanWork</a:t>
            </a: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שמקבלת תאריך ומחזירה את העובדים שלא עובדים אותו יום בצורה רנדומלית</a:t>
            </a:r>
            <a:r>
              <a:rPr lang="he-IL" sz="14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lvl="0" algn="r" rtl="1">
              <a:lnSpc>
                <a:spcPct val="107000"/>
              </a:lnSpc>
            </a:pP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הפרוצדורה מקבלת את מספר הימים שיש בחודש הבא ועוברת כל יום על כל המתקנים ובודקת האם יש לכל מתקן עובד.</a:t>
            </a:r>
          </a:p>
          <a:p>
            <a:pPr lvl="0" algn="r" rtl="1">
              <a:lnSpc>
                <a:spcPct val="107000"/>
              </a:lnSpc>
            </a:pP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אם אין למתקן עובד היא קוראת לפונקציה 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empCanWork</a:t>
            </a: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ומשבצת את העובד הפנוי באותו יום למתקן זה.  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2FB80CC4-4FC0-4E0B-B3D5-E22E06F7F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865" y="1969478"/>
            <a:ext cx="6317800" cy="4822522"/>
          </a:xfrm>
          <a:prstGeom prst="rect">
            <a:avLst/>
          </a:prstGeom>
        </p:spPr>
      </p:pic>
      <p:sp>
        <p:nvSpPr>
          <p:cNvPr id="3" name="Google Shape;132;p17">
            <a:extLst>
              <a:ext uri="{FF2B5EF4-FFF2-40B4-BE49-F238E27FC236}">
                <a16:creationId xmlns:a16="http://schemas.microsoft.com/office/drawing/2014/main" id="{FC7CC037-85AA-6080-D889-EAF1FA72C891}"/>
              </a:ext>
            </a:extLst>
          </p:cNvPr>
          <p:cNvSpPr/>
          <p:nvPr/>
        </p:nvSpPr>
        <p:spPr>
          <a:xfrm>
            <a:off x="10203451" y="251530"/>
            <a:ext cx="1673418" cy="559074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he-IL" dirty="0">
                <a:solidFill>
                  <a:schemeClr val="lt1"/>
                </a:solidFill>
                <a:latin typeface="Gill Sans"/>
                <a:sym typeface="Gill Sans"/>
              </a:rPr>
              <a:t>מזכיר</a:t>
            </a:r>
          </a:p>
        </p:txBody>
      </p:sp>
    </p:spTree>
    <p:extLst>
      <p:ext uri="{BB962C8B-B14F-4D97-AF65-F5344CB8AC3E}">
        <p14:creationId xmlns:p14="http://schemas.microsoft.com/office/powerpoint/2010/main" val="2116446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כותרת 1">
            <a:extLst>
              <a:ext uri="{FF2B5EF4-FFF2-40B4-BE49-F238E27FC236}">
                <a16:creationId xmlns:a16="http://schemas.microsoft.com/office/drawing/2014/main" id="{6EF16E0E-F66B-43AA-8932-2B952FB74EF3}"/>
              </a:ext>
            </a:extLst>
          </p:cNvPr>
          <p:cNvSpPr txBox="1">
            <a:spLocks/>
          </p:cNvSpPr>
          <p:nvPr/>
        </p:nvSpPr>
        <p:spPr>
          <a:xfrm>
            <a:off x="1167618" y="940198"/>
            <a:ext cx="9035833" cy="990145"/>
          </a:xfrm>
          <a:prstGeom prst="rect">
            <a:avLst/>
          </a:prstGeom>
        </p:spPr>
        <p:txBody>
          <a:bodyPr lIns="91440" tIns="45720" rIns="91440" bIns="4572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i="0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r" rtl="1">
              <a:lnSpc>
                <a:spcPct val="107000"/>
              </a:lnSpc>
              <a:buFont typeface="+mj-lt"/>
              <a:buAutoNum type="arabicPeriod"/>
            </a:pPr>
            <a:endParaRPr lang="he-IL" sz="18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r" rtl="1">
              <a:lnSpc>
                <a:spcPct val="107000"/>
              </a:lnSpc>
            </a:pP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5. תיאור: מוסיפה הזמנה לטבלת ההזמנות- אם גיל הלקוח המזמין קטן מהגיל של המתקן שהזמין ההזמנה לא תבוצע ויודפס שהגיל לא תואם למתקן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b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he-IL" sz="1400" dirty="0"/>
          </a:p>
        </p:txBody>
      </p:sp>
      <p:sp>
        <p:nvSpPr>
          <p:cNvPr id="6" name="סימן חיסור 5">
            <a:extLst>
              <a:ext uri="{FF2B5EF4-FFF2-40B4-BE49-F238E27FC236}">
                <a16:creationId xmlns:a16="http://schemas.microsoft.com/office/drawing/2014/main" id="{B21A21D3-EEAF-4AD8-BCA5-55EBB0EC0BF7}"/>
              </a:ext>
            </a:extLst>
          </p:cNvPr>
          <p:cNvSpPr/>
          <p:nvPr/>
        </p:nvSpPr>
        <p:spPr>
          <a:xfrm>
            <a:off x="1505243" y="1758460"/>
            <a:ext cx="9777045" cy="211018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51573E23-45BF-41C7-BC20-9117076FD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793" y="2165137"/>
            <a:ext cx="6242414" cy="3752665"/>
          </a:xfrm>
          <a:prstGeom prst="rect">
            <a:avLst/>
          </a:prstGeom>
        </p:spPr>
      </p:pic>
      <p:sp>
        <p:nvSpPr>
          <p:cNvPr id="2" name="Google Shape;132;p17">
            <a:extLst>
              <a:ext uri="{FF2B5EF4-FFF2-40B4-BE49-F238E27FC236}">
                <a16:creationId xmlns:a16="http://schemas.microsoft.com/office/drawing/2014/main" id="{707144EB-324F-CCD6-D68B-9B57E96AC77F}"/>
              </a:ext>
            </a:extLst>
          </p:cNvPr>
          <p:cNvSpPr/>
          <p:nvPr/>
        </p:nvSpPr>
        <p:spPr>
          <a:xfrm>
            <a:off x="10203451" y="251530"/>
            <a:ext cx="1673418" cy="559074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he-IL" dirty="0">
                <a:solidFill>
                  <a:schemeClr val="lt1"/>
                </a:solidFill>
                <a:latin typeface="Gill Sans"/>
                <a:sym typeface="Gill Sans"/>
              </a:rPr>
              <a:t>לקוח</a:t>
            </a:r>
          </a:p>
        </p:txBody>
      </p:sp>
    </p:spTree>
    <p:extLst>
      <p:ext uri="{BB962C8B-B14F-4D97-AF65-F5344CB8AC3E}">
        <p14:creationId xmlns:p14="http://schemas.microsoft.com/office/powerpoint/2010/main" val="68577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סימן חיסור 7">
            <a:extLst>
              <a:ext uri="{FF2B5EF4-FFF2-40B4-BE49-F238E27FC236}">
                <a16:creationId xmlns:a16="http://schemas.microsoft.com/office/drawing/2014/main" id="{C09FB6BA-9268-1507-40CF-00DDF8E081C9}"/>
              </a:ext>
            </a:extLst>
          </p:cNvPr>
          <p:cNvSpPr/>
          <p:nvPr/>
        </p:nvSpPr>
        <p:spPr>
          <a:xfrm>
            <a:off x="1505243" y="1758460"/>
            <a:ext cx="9777045" cy="211018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4EE27215-8A39-6D68-CD7D-B9F075A35CBE}"/>
              </a:ext>
            </a:extLst>
          </p:cNvPr>
          <p:cNvSpPr txBox="1">
            <a:spLocks/>
          </p:cNvSpPr>
          <p:nvPr/>
        </p:nvSpPr>
        <p:spPr>
          <a:xfrm>
            <a:off x="1203396" y="940198"/>
            <a:ext cx="9000055" cy="990145"/>
          </a:xfrm>
          <a:prstGeom prst="rect">
            <a:avLst/>
          </a:prstGeom>
        </p:spPr>
        <p:txBody>
          <a:bodyPr lIns="91440" tIns="45720" rIns="91440" bIns="45720" anchor="b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i="0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r" rtl="1">
              <a:lnSpc>
                <a:spcPct val="107000"/>
              </a:lnSpc>
              <a:buFont typeface="+mj-lt"/>
              <a:buAutoNum type="arabicPeriod"/>
            </a:pPr>
            <a:endParaRPr lang="he-IL" sz="18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07000"/>
              </a:lnSpc>
              <a:buFont typeface="+mj-lt"/>
              <a:buAutoNum type="arabicPeriod"/>
            </a:pP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תיאור: בודקת רווח שנתי/רבעוני לעומת השנה/הרבעון הקודם.</a:t>
            </a:r>
            <a:b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he-IL" sz="1400" dirty="0"/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5BA276C1-51EC-8403-69F9-D7941C76AE68}"/>
              </a:ext>
            </a:extLst>
          </p:cNvPr>
          <p:cNvSpPr txBox="1">
            <a:spLocks/>
          </p:cNvSpPr>
          <p:nvPr/>
        </p:nvSpPr>
        <p:spPr>
          <a:xfrm>
            <a:off x="2560232" y="57828"/>
            <a:ext cx="7071536" cy="906272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he-IL" sz="4000" dirty="0">
                <a:cs typeface="+mn-cs"/>
              </a:rPr>
              <a:t>פונקציות: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5920333C-2C0C-99A4-FEA1-DC34E5E4B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385" y="2097316"/>
            <a:ext cx="5087229" cy="4590068"/>
          </a:xfrm>
          <a:prstGeom prst="rect">
            <a:avLst/>
          </a:prstGeom>
        </p:spPr>
      </p:pic>
      <p:sp>
        <p:nvSpPr>
          <p:cNvPr id="4" name="Google Shape;132;p17">
            <a:extLst>
              <a:ext uri="{FF2B5EF4-FFF2-40B4-BE49-F238E27FC236}">
                <a16:creationId xmlns:a16="http://schemas.microsoft.com/office/drawing/2014/main" id="{272A81A4-7625-C5D2-3179-8E6C5C559119}"/>
              </a:ext>
            </a:extLst>
          </p:cNvPr>
          <p:cNvSpPr/>
          <p:nvPr/>
        </p:nvSpPr>
        <p:spPr>
          <a:xfrm>
            <a:off x="10203451" y="251530"/>
            <a:ext cx="1673418" cy="559074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he-IL" dirty="0">
                <a:solidFill>
                  <a:schemeClr val="lt1"/>
                </a:solidFill>
                <a:latin typeface="Gill Sans"/>
                <a:sym typeface="Gill Sans"/>
              </a:rPr>
              <a:t>מנהל חשבונות</a:t>
            </a:r>
          </a:p>
          <a:p>
            <a:pPr algn="ctr"/>
            <a:r>
              <a:rPr lang="he-IL" dirty="0">
                <a:solidFill>
                  <a:schemeClr val="lt1"/>
                </a:solidFill>
                <a:latin typeface="Gill Sans"/>
                <a:sym typeface="Gill Sans"/>
              </a:rPr>
              <a:t>מנהל</a:t>
            </a:r>
          </a:p>
        </p:txBody>
      </p:sp>
    </p:spTree>
    <p:extLst>
      <p:ext uri="{BB962C8B-B14F-4D97-AF65-F5344CB8AC3E}">
        <p14:creationId xmlns:p14="http://schemas.microsoft.com/office/powerpoint/2010/main" val="989600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E27215-8A39-6D68-CD7D-B9F075A35CBE}"/>
              </a:ext>
            </a:extLst>
          </p:cNvPr>
          <p:cNvSpPr txBox="1">
            <a:spLocks/>
          </p:cNvSpPr>
          <p:nvPr/>
        </p:nvSpPr>
        <p:spPr>
          <a:xfrm>
            <a:off x="2282233" y="504100"/>
            <a:ext cx="9000055" cy="990145"/>
          </a:xfrm>
          <a:prstGeom prst="rect">
            <a:avLst/>
          </a:prstGeom>
        </p:spPr>
        <p:txBody>
          <a:bodyPr lIns="91440" tIns="45720" rIns="91440" bIns="45720" anchor="b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i="0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r" rtl="1">
              <a:lnSpc>
                <a:spcPct val="107000"/>
              </a:lnSpc>
              <a:buFont typeface="+mj-lt"/>
              <a:buAutoNum type="arabicPeriod"/>
            </a:pPr>
            <a:endParaRPr lang="he-IL" sz="18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r" rtl="1">
              <a:lnSpc>
                <a:spcPct val="107000"/>
              </a:lnSpc>
            </a:pP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המשך -</a:t>
            </a:r>
            <a:b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he-IL" sz="1400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BB2DB6B8-57D0-7C96-53C0-06B3D2847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60" y="1494245"/>
            <a:ext cx="5971959" cy="5038489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20BC1B2D-FBB3-59A4-C5A5-ED11D6B47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5565" y="2515262"/>
            <a:ext cx="1826255" cy="668770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F98DA65D-C7EC-122E-DA2A-35794AAAF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5084" y="1725314"/>
            <a:ext cx="2736735" cy="427615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0C695E8D-9CEB-878A-C6F6-9F1B2AF9EB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5084" y="4168881"/>
            <a:ext cx="2876256" cy="390603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E7A1EE7B-3DB6-9C72-0D11-C796F13978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5565" y="4921817"/>
            <a:ext cx="1965775" cy="67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0670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סימן חיסור 7">
            <a:extLst>
              <a:ext uri="{FF2B5EF4-FFF2-40B4-BE49-F238E27FC236}">
                <a16:creationId xmlns:a16="http://schemas.microsoft.com/office/drawing/2014/main" id="{C09FB6BA-9268-1507-40CF-00DDF8E081C9}"/>
              </a:ext>
            </a:extLst>
          </p:cNvPr>
          <p:cNvSpPr/>
          <p:nvPr/>
        </p:nvSpPr>
        <p:spPr>
          <a:xfrm>
            <a:off x="1505243" y="1758460"/>
            <a:ext cx="9777045" cy="211018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4EE27215-8A39-6D68-CD7D-B9F075A35CBE}"/>
              </a:ext>
            </a:extLst>
          </p:cNvPr>
          <p:cNvSpPr txBox="1">
            <a:spLocks/>
          </p:cNvSpPr>
          <p:nvPr/>
        </p:nvSpPr>
        <p:spPr>
          <a:xfrm>
            <a:off x="1203396" y="940198"/>
            <a:ext cx="9000055" cy="990145"/>
          </a:xfrm>
          <a:prstGeom prst="rect">
            <a:avLst/>
          </a:prstGeom>
        </p:spPr>
        <p:txBody>
          <a:bodyPr lIns="91440" tIns="45720" rIns="91440" bIns="45720" anchor="b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i="0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r" rtl="1">
              <a:lnSpc>
                <a:spcPct val="107000"/>
              </a:lnSpc>
              <a:buFont typeface="+mj-lt"/>
              <a:buAutoNum type="arabicPeriod"/>
            </a:pPr>
            <a:endParaRPr lang="he-IL" sz="18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r" rtl="1">
              <a:lnSpc>
                <a:spcPct val="107000"/>
              </a:lnSpc>
            </a:pP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תיאור: פונקציה שמקבלת שם מתקן ומחזירה את הגיל הממוצע של המשתמשים בו.</a:t>
            </a:r>
            <a:b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he-IL" sz="1400" dirty="0"/>
          </a:p>
        </p:txBody>
      </p:sp>
      <p:pic>
        <p:nvPicPr>
          <p:cNvPr id="4" name="תמונה 3" descr="תמונה שמכילה טקסט, חשמל, צילום מסך, תצוגה&#10;&#10;התיאור נוצר באופן אוטומטי">
            <a:extLst>
              <a:ext uri="{FF2B5EF4-FFF2-40B4-BE49-F238E27FC236}">
                <a16:creationId xmlns:a16="http://schemas.microsoft.com/office/drawing/2014/main" id="{45ECA7DE-99A8-AC1B-912B-8E154F5F49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808" t="32907" r="16311" b="12082"/>
          <a:stretch/>
        </p:blipFill>
        <p:spPr>
          <a:xfrm>
            <a:off x="2661271" y="2413566"/>
            <a:ext cx="6869457" cy="3184639"/>
          </a:xfrm>
          <a:prstGeom prst="rect">
            <a:avLst/>
          </a:prstGeom>
        </p:spPr>
      </p:pic>
      <p:sp>
        <p:nvSpPr>
          <p:cNvPr id="3" name="Google Shape;132;p17">
            <a:extLst>
              <a:ext uri="{FF2B5EF4-FFF2-40B4-BE49-F238E27FC236}">
                <a16:creationId xmlns:a16="http://schemas.microsoft.com/office/drawing/2014/main" id="{8CF60B6C-964A-0C12-C49B-C76E5C0FC2E4}"/>
              </a:ext>
            </a:extLst>
          </p:cNvPr>
          <p:cNvSpPr/>
          <p:nvPr/>
        </p:nvSpPr>
        <p:spPr>
          <a:xfrm>
            <a:off x="10203451" y="251530"/>
            <a:ext cx="1673418" cy="559074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he-IL" dirty="0">
                <a:solidFill>
                  <a:schemeClr val="lt1"/>
                </a:solidFill>
                <a:latin typeface="Gill Sans"/>
                <a:sym typeface="Gill Sans"/>
              </a:rPr>
              <a:t>מנהל</a:t>
            </a:r>
          </a:p>
        </p:txBody>
      </p:sp>
    </p:spTree>
    <p:extLst>
      <p:ext uri="{BB962C8B-B14F-4D97-AF65-F5344CB8AC3E}">
        <p14:creationId xmlns:p14="http://schemas.microsoft.com/office/powerpoint/2010/main" val="1748631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סימן חיסור 7">
            <a:extLst>
              <a:ext uri="{FF2B5EF4-FFF2-40B4-BE49-F238E27FC236}">
                <a16:creationId xmlns:a16="http://schemas.microsoft.com/office/drawing/2014/main" id="{C09FB6BA-9268-1507-40CF-00DDF8E081C9}"/>
              </a:ext>
            </a:extLst>
          </p:cNvPr>
          <p:cNvSpPr/>
          <p:nvPr/>
        </p:nvSpPr>
        <p:spPr>
          <a:xfrm>
            <a:off x="1505243" y="1758460"/>
            <a:ext cx="9777045" cy="211018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4EE27215-8A39-6D68-CD7D-B9F075A35CBE}"/>
              </a:ext>
            </a:extLst>
          </p:cNvPr>
          <p:cNvSpPr txBox="1">
            <a:spLocks/>
          </p:cNvSpPr>
          <p:nvPr/>
        </p:nvSpPr>
        <p:spPr>
          <a:xfrm>
            <a:off x="1203396" y="940198"/>
            <a:ext cx="9000055" cy="990145"/>
          </a:xfrm>
          <a:prstGeom prst="rect">
            <a:avLst/>
          </a:prstGeom>
        </p:spPr>
        <p:txBody>
          <a:bodyPr lIns="91440" tIns="45720" rIns="91440" bIns="45720" anchor="b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i="0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r" rtl="1">
              <a:lnSpc>
                <a:spcPct val="107000"/>
              </a:lnSpc>
              <a:buFont typeface="+mj-lt"/>
              <a:buAutoNum type="arabicPeriod"/>
            </a:pPr>
            <a:endParaRPr lang="he-IL" sz="18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r" rtl="1">
              <a:lnSpc>
                <a:spcPct val="107000"/>
              </a:lnSpc>
            </a:pP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תיאור: פונקציה שמקבלת מספר עובד ומחזירה את מספר הימים שלא עבד.</a:t>
            </a:r>
            <a:b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he-IL" sz="1400" dirty="0"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60D1F414-E573-4089-A070-2B033F164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538" y="2599303"/>
            <a:ext cx="9434923" cy="25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0670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סימן חיסור 7">
            <a:extLst>
              <a:ext uri="{FF2B5EF4-FFF2-40B4-BE49-F238E27FC236}">
                <a16:creationId xmlns:a16="http://schemas.microsoft.com/office/drawing/2014/main" id="{C09FB6BA-9268-1507-40CF-00DDF8E081C9}"/>
              </a:ext>
            </a:extLst>
          </p:cNvPr>
          <p:cNvSpPr/>
          <p:nvPr/>
        </p:nvSpPr>
        <p:spPr>
          <a:xfrm>
            <a:off x="1505243" y="1758460"/>
            <a:ext cx="9777045" cy="211018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4EE27215-8A39-6D68-CD7D-B9F075A35CBE}"/>
              </a:ext>
            </a:extLst>
          </p:cNvPr>
          <p:cNvSpPr txBox="1">
            <a:spLocks/>
          </p:cNvSpPr>
          <p:nvPr/>
        </p:nvSpPr>
        <p:spPr>
          <a:xfrm>
            <a:off x="1203396" y="940198"/>
            <a:ext cx="9000055" cy="990145"/>
          </a:xfrm>
          <a:prstGeom prst="rect">
            <a:avLst/>
          </a:prstGeom>
        </p:spPr>
        <p:txBody>
          <a:bodyPr lIns="91440" tIns="45720" rIns="91440" bIns="45720" anchor="b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i="0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r" rtl="1">
              <a:lnSpc>
                <a:spcPct val="107000"/>
              </a:lnSpc>
              <a:buFont typeface="+mj-lt"/>
              <a:buAutoNum type="arabicPeriod"/>
            </a:pPr>
            <a:endParaRPr lang="he-IL" sz="18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r" rtl="1">
              <a:lnSpc>
                <a:spcPct val="107000"/>
              </a:lnSpc>
            </a:pP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4. תיאור: פונקציה שמקבלת תאריך ומחזירה את העובדים שלא עובדים אותו יום בצורה רנדומלית.</a:t>
            </a:r>
            <a:b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he-IL" sz="1400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5D26F213-8988-D753-31E8-E150C81B7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238" y="2540021"/>
            <a:ext cx="7201524" cy="32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0006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סימן חיסור 7">
            <a:extLst>
              <a:ext uri="{FF2B5EF4-FFF2-40B4-BE49-F238E27FC236}">
                <a16:creationId xmlns:a16="http://schemas.microsoft.com/office/drawing/2014/main" id="{C09FB6BA-9268-1507-40CF-00DDF8E081C9}"/>
              </a:ext>
            </a:extLst>
          </p:cNvPr>
          <p:cNvSpPr/>
          <p:nvPr/>
        </p:nvSpPr>
        <p:spPr>
          <a:xfrm>
            <a:off x="1505243" y="1758460"/>
            <a:ext cx="9777045" cy="211018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כותרת 1">
            <a:extLst>
              <a:ext uri="{FF2B5EF4-FFF2-40B4-BE49-F238E27FC236}">
                <a16:creationId xmlns:a16="http://schemas.microsoft.com/office/drawing/2014/main" id="{4925F3ED-1D29-5F68-3E98-292230715781}"/>
              </a:ext>
            </a:extLst>
          </p:cNvPr>
          <p:cNvSpPr txBox="1">
            <a:spLocks/>
          </p:cNvSpPr>
          <p:nvPr/>
        </p:nvSpPr>
        <p:spPr>
          <a:xfrm>
            <a:off x="1175261" y="952026"/>
            <a:ext cx="9000055" cy="990145"/>
          </a:xfrm>
          <a:prstGeom prst="rect">
            <a:avLst/>
          </a:prstGeom>
        </p:spPr>
        <p:txBody>
          <a:bodyPr lIns="91440" tIns="45720" rIns="91440" bIns="45720" anchor="b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i="0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r" rtl="1">
              <a:lnSpc>
                <a:spcPct val="107000"/>
              </a:lnSpc>
              <a:buFont typeface="+mj-lt"/>
              <a:buAutoNum type="arabicPeriod"/>
            </a:pPr>
            <a:endParaRPr lang="he-IL" sz="18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r" rtl="1">
              <a:lnSpc>
                <a:spcPct val="107000"/>
              </a:lnSpc>
            </a:pP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תיאור: כשעושים הזמנה חדשה הטריגר מראה את הפעילויות שיש אותו יום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b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he-IL" sz="1400" dirty="0"/>
          </a:p>
        </p:txBody>
      </p:sp>
      <p:sp>
        <p:nvSpPr>
          <p:cNvPr id="7" name="כותרת 1">
            <a:extLst>
              <a:ext uri="{FF2B5EF4-FFF2-40B4-BE49-F238E27FC236}">
                <a16:creationId xmlns:a16="http://schemas.microsoft.com/office/drawing/2014/main" id="{F4EBC16C-7D3D-2FBC-EC1D-47700408A894}"/>
              </a:ext>
            </a:extLst>
          </p:cNvPr>
          <p:cNvSpPr txBox="1">
            <a:spLocks/>
          </p:cNvSpPr>
          <p:nvPr/>
        </p:nvSpPr>
        <p:spPr>
          <a:xfrm>
            <a:off x="2474152" y="452888"/>
            <a:ext cx="7071536" cy="551308"/>
          </a:xfrm>
          <a:prstGeom prst="rect">
            <a:avLst/>
          </a:prstGeom>
        </p:spPr>
        <p:txBody>
          <a:bodyPr vert="horz" lIns="91440" tIns="45720" rIns="91440" bIns="0" rtlCol="0" anchor="b">
            <a:normAutofit lnSpcReduction="10000"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he-IL" sz="4000" dirty="0">
                <a:cs typeface="+mn-cs"/>
              </a:rPr>
              <a:t>טריגרים</a:t>
            </a: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48A2D56B-5E61-40BA-8B10-1035557A3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645" y="2748605"/>
            <a:ext cx="8920709" cy="1810156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2897C9CB-4C82-43E8-8D97-5BF5AE08F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645" y="5063455"/>
            <a:ext cx="3281258" cy="54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3327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סימן חיסור 7">
            <a:extLst>
              <a:ext uri="{FF2B5EF4-FFF2-40B4-BE49-F238E27FC236}">
                <a16:creationId xmlns:a16="http://schemas.microsoft.com/office/drawing/2014/main" id="{C09FB6BA-9268-1507-40CF-00DDF8E081C9}"/>
              </a:ext>
            </a:extLst>
          </p:cNvPr>
          <p:cNvSpPr/>
          <p:nvPr/>
        </p:nvSpPr>
        <p:spPr>
          <a:xfrm>
            <a:off x="1505243" y="1758460"/>
            <a:ext cx="9777045" cy="211018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4EE27215-8A39-6D68-CD7D-B9F075A35CBE}"/>
              </a:ext>
            </a:extLst>
          </p:cNvPr>
          <p:cNvSpPr txBox="1">
            <a:spLocks/>
          </p:cNvSpPr>
          <p:nvPr/>
        </p:nvSpPr>
        <p:spPr>
          <a:xfrm>
            <a:off x="1203396" y="940198"/>
            <a:ext cx="9000055" cy="990145"/>
          </a:xfrm>
          <a:prstGeom prst="rect">
            <a:avLst/>
          </a:prstGeom>
        </p:spPr>
        <p:txBody>
          <a:bodyPr lIns="91440" tIns="45720" rIns="91440" bIns="45720" anchor="b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i="0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r" rtl="1">
              <a:lnSpc>
                <a:spcPct val="107000"/>
              </a:lnSpc>
              <a:buFont typeface="+mj-lt"/>
              <a:buAutoNum type="arabicPeriod"/>
            </a:pPr>
            <a:endParaRPr lang="he-IL" sz="18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07000"/>
              </a:lnSpc>
              <a:buFont typeface="+mj-lt"/>
              <a:buAutoNum type="arabicPeriod"/>
            </a:pP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תיאור: מוסיפה לכל עובד שקל למשכורת על כל שנת ותק, מחשבת משכורת ובונוס .</a:t>
            </a:r>
            <a:b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he-IL" sz="1400" dirty="0"/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5BA276C1-51EC-8403-69F9-D7941C76AE68}"/>
              </a:ext>
            </a:extLst>
          </p:cNvPr>
          <p:cNvSpPr txBox="1">
            <a:spLocks/>
          </p:cNvSpPr>
          <p:nvPr/>
        </p:nvSpPr>
        <p:spPr>
          <a:xfrm>
            <a:off x="2560232" y="57828"/>
            <a:ext cx="7071536" cy="906272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he-IL" sz="4000" dirty="0" err="1">
                <a:cs typeface="+mn-cs"/>
              </a:rPr>
              <a:t>טרנזקציה</a:t>
            </a:r>
            <a:r>
              <a:rPr lang="he-IL" sz="4000" dirty="0">
                <a:cs typeface="+mn-cs"/>
              </a:rPr>
              <a:t>: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653E4B1E-4F20-4961-9B14-6B95A1AEA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526" y="2094266"/>
            <a:ext cx="6728948" cy="4705906"/>
          </a:xfrm>
          <a:prstGeom prst="rect">
            <a:avLst/>
          </a:prstGeom>
        </p:spPr>
      </p:pic>
      <p:sp>
        <p:nvSpPr>
          <p:cNvPr id="4" name="Google Shape;132;p17">
            <a:extLst>
              <a:ext uri="{FF2B5EF4-FFF2-40B4-BE49-F238E27FC236}">
                <a16:creationId xmlns:a16="http://schemas.microsoft.com/office/drawing/2014/main" id="{D6A1EB32-C6CA-4CCE-6D0A-AD0F62E0ADE4}"/>
              </a:ext>
            </a:extLst>
          </p:cNvPr>
          <p:cNvSpPr/>
          <p:nvPr/>
        </p:nvSpPr>
        <p:spPr>
          <a:xfrm>
            <a:off x="10203451" y="251530"/>
            <a:ext cx="1673418" cy="559074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he-IL" dirty="0">
                <a:solidFill>
                  <a:schemeClr val="lt1"/>
                </a:solidFill>
                <a:latin typeface="Gill Sans"/>
                <a:sym typeface="Gill Sans"/>
              </a:rPr>
              <a:t>מנהל חשבונות</a:t>
            </a:r>
          </a:p>
        </p:txBody>
      </p:sp>
    </p:spTree>
    <p:extLst>
      <p:ext uri="{BB962C8B-B14F-4D97-AF65-F5344CB8AC3E}">
        <p14:creationId xmlns:p14="http://schemas.microsoft.com/office/powerpoint/2010/main" val="1271934668"/>
      </p:ext>
    </p:extLst>
  </p:cSld>
  <p:clrMapOvr>
    <a:masterClrMapping/>
  </p:clrMapOvr>
</p:sld>
</file>

<file path=ppt/theme/theme1.xml><?xml version="1.0" encoding="utf-8"?>
<a:theme xmlns:a="http://schemas.openxmlformats.org/drawingml/2006/main" name="גלריה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TM10001114[[fn=גלריה]]</Template>
  <TotalTime>2268</TotalTime>
  <Words>1000</Words>
  <Application>Microsoft Office PowerPoint</Application>
  <PresentationFormat>מסך רחב</PresentationFormat>
  <Paragraphs>177</Paragraphs>
  <Slides>28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28</vt:i4>
      </vt:variant>
    </vt:vector>
  </HeadingPairs>
  <TitlesOfParts>
    <vt:vector size="35" baseType="lpstr">
      <vt:lpstr>Aptos</vt:lpstr>
      <vt:lpstr>Arial</vt:lpstr>
      <vt:lpstr>Calibri</vt:lpstr>
      <vt:lpstr>Gill Sans</vt:lpstr>
      <vt:lpstr>Gisha</vt:lpstr>
      <vt:lpstr>Rockwell</vt:lpstr>
      <vt:lpstr>גלריה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ההרצה של הפרוצדורה: 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מוריה כהן</dc:creator>
  <cp:lastModifiedBy>OWNER</cp:lastModifiedBy>
  <cp:revision>55</cp:revision>
  <dcterms:created xsi:type="dcterms:W3CDTF">2024-05-22T07:39:52Z</dcterms:created>
  <dcterms:modified xsi:type="dcterms:W3CDTF">2024-07-02T09:30:52Z</dcterms:modified>
</cp:coreProperties>
</file>